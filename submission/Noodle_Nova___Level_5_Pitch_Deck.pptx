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2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6256000" cy="9144000"/>
  <p:notesSz cx="9144000" cy="16256000"/>
  <p:embeddedFontLst>
    <p:embeddedFont>
      <p:font typeface="Inter" charset="-122" pitchFamily="34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/Relationships>
</file>

<file path=ppt/charts/_rels/chart32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22.xlsx"/></Relationships>
</file>

<file path=ppt/charts/chart3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00F0FF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pPr>
                      <a:defRPr b="0" i="0" strike="noStrike" sz="1200" u="none">
                        <a:solidFill>
                          <a:srgbClr val="CCCCCC"/>
                        </a:solidFill>
                        <a:latin typeface="Inter"/>
                      </a:defRPr>
                    </a:pPr>
                    <a:r>
                      <a:rPr lang="en-US" b="0" i="0" strike="noStrike" sz="1200" u="none">
                        <a:solidFill>
                          <a:srgbClr val="CCCCCC"/>
                        </a:solidFill>
                        <a:latin typeface="Inter"/>
                      </a:rPr>
                      <a:t>80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pPr>
                      <a:defRPr b="0" i="0" strike="noStrike" sz="1200" u="none">
                        <a:solidFill>
                          <a:srgbClr val="CCCCCC"/>
                        </a:solidFill>
                        <a:latin typeface="Inter"/>
                      </a:defRPr>
                    </a:pPr>
                    <a:r>
                      <a:rPr lang="en-US" b="0" i="0" strike="noStrike" sz="1200" u="none">
                        <a:solidFill>
                          <a:srgbClr val="CCCCCC"/>
                        </a:solidFill>
                        <a:latin typeface="Inter"/>
                      </a:rPr>
                      <a:t>76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pPr>
                      <a:defRPr b="0" i="0" strike="noStrike" sz="1200" u="none">
                        <a:solidFill>
                          <a:srgbClr val="CCCCCC"/>
                        </a:solidFill>
                        <a:latin typeface="Inter"/>
                      </a:defRPr>
                    </a:pPr>
                    <a:r>
                      <a:rPr lang="en-US" b="0" i="0" strike="noStrike" sz="1200" u="none">
                        <a:solidFill>
                          <a:srgbClr val="CCCCCC"/>
                        </a:solidFill>
                        <a:latin typeface="Inter"/>
                      </a:rPr>
                      <a:t>79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pPr>
                      <a:defRPr b="0" i="0" strike="noStrike" sz="1200" u="none">
                        <a:solidFill>
                          <a:srgbClr val="CCCCCC"/>
                        </a:solidFill>
                        <a:latin typeface="Inter"/>
                      </a:defRPr>
                    </a:pPr>
                    <a:r>
                      <a:rPr lang="en-US" b="0" i="0" strike="noStrike" sz="1200" u="none">
                        <a:solidFill>
                          <a:srgbClr val="CCCCCC"/>
                        </a:solidFill>
                        <a:latin typeface="Inter"/>
                      </a:rPr>
                      <a:t>42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CCCCCC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Responses</c:v>
                  </c:pt>
                  <c:pt idx="1">
                    <c:v>Unique wallets</c:v>
                  </c:pt>
                  <c:pt idx="2">
                    <c:v>Admin couriers</c:v>
                  </c:pt>
                  <c:pt idx="3">
                    <c:v>Successful hashes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</c:v>
                </c:pt>
                <c:pt idx="1">
                  <c:v>76</c:v>
                </c:pt>
                <c:pt idx="2">
                  <c:v>79</c:v>
                </c:pt>
                <c:pt idx="3">
                  <c:v>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CCCCCC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707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707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2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-image" descr="preencoded.png">    </p:cNvPr>
          <p:cNvPicPr>
            <a:picLocks noChangeAspect="1"/>
          </p:cNvPicPr>
          <p:nvPr/>
        </p:nvPicPr>
        <p:blipFill>
          <a:blip r:embed="rId1"/>
          <a:srcRect l="1515" r="1515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background-mask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B1021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cover-top-rule"/>
          <p:cNvSpPr/>
          <p:nvPr/>
        </p:nvSpPr>
        <p:spPr>
          <a:xfrm>
            <a:off x="762000" y="228600"/>
            <a:ext cx="14732000" cy="9144"/>
          </a:xfrm>
          <a:prstGeom prst="line">
            <a:avLst/>
          </a:prstGeom>
          <a:ln w="25400">
            <a:solidFill>
              <a:srgbClr val="00F0FF"/>
            </a:solidFill>
            <a:prstDash val="solid"/>
          </a:ln>
        </p:spPr>
      </p:sp>
      <p:sp>
        <p:nvSpPr>
          <p:cNvPr id="5" name="cover-frame-left"/>
          <p:cNvSpPr/>
          <p:nvPr/>
        </p:nvSpPr>
        <p:spPr>
          <a:xfrm>
            <a:off x="762000" y="1016000"/>
            <a:ext cx="9144" cy="6604000"/>
          </a:xfrm>
          <a:prstGeom prst="line">
            <a:avLst/>
          </a:prstGeom>
          <a:ln w="12700">
            <a:solidFill>
              <a:srgbClr val="00F0FF">
                <a:alpha val="65000"/>
              </a:srgbClr>
            </a:solidFill>
            <a:prstDash val="solid"/>
          </a:ln>
        </p:spPr>
      </p:sp>
      <p:sp>
        <p:nvSpPr>
          <p:cNvPr id="6" name="cover-kicker"/>
          <p:cNvSpPr/>
          <p:nvPr/>
        </p:nvSpPr>
        <p:spPr>
          <a:xfrm>
            <a:off x="1041400" y="18796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STELLAR TESTNET  ·  LEVEL 5 PITCH</a:t>
            </a:r>
            <a:endParaRPr lang="en-US" sz="1400" dirty="0"/>
          </a:p>
        </p:txBody>
      </p:sp>
      <p:sp>
        <p:nvSpPr>
          <p:cNvPr id="7" name="cover-title"/>
          <p:cNvSpPr/>
          <p:nvPr/>
        </p:nvSpPr>
        <p:spPr>
          <a:xfrm>
            <a:off x="1016000" y="2603500"/>
            <a:ext cx="7620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0"/>
              </a:lnSpc>
              <a:buNone/>
            </a:pPr>
            <a:r>
              <a:rPr lang="en-US" altLang="en-US" sz="6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Noodle Nova</a:t>
            </a:r>
            <a:endParaRPr lang="en-US" sz="6400" dirty="0"/>
          </a:p>
        </p:txBody>
      </p:sp>
      <p:sp>
        <p:nvSpPr>
          <p:cNvPr id="8" name="cover-tagline"/>
          <p:cNvSpPr/>
          <p:nvPr/>
        </p:nvSpPr>
        <p:spPr>
          <a:xfrm>
            <a:off x="1041400" y="4635500"/>
            <a:ext cx="685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altLang="en-US" sz="3000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 noodles. Collect stardust.</a:t>
            </a:r>
            <a:endParaRPr lang="en-US" sz="3000" dirty="0"/>
          </a:p>
        </p:txBody>
      </p:sp>
      <p:sp>
        <p:nvSpPr>
          <p:cNvPr id="9" name="cover-description"/>
          <p:cNvSpPr/>
          <p:nvPr/>
        </p:nvSpPr>
        <p:spPr>
          <a:xfrm>
            <a:off x="1041400" y="5969000"/>
            <a:ext cx="63500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0"/>
              </a:lnSpc>
              <a:buNone/>
            </a:pPr>
            <a:r>
              <a:rPr lang="en-US" alt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anime-styled courier world that turns real Stellar Testnet interactions into a playful, verifiable product loop.</a:t>
            </a:r>
            <a:endParaRPr lang="en-US" sz="1900" dirty="0"/>
          </a:p>
        </p:txBody>
      </p:sp>
      <p:sp>
        <p:nvSpPr>
          <p:cNvPr id="10" name="cover-meta"/>
          <p:cNvSpPr/>
          <p:nvPr/>
        </p:nvSpPr>
        <p:spPr>
          <a:xfrm>
            <a:off x="1041400" y="7696200"/>
            <a:ext cx="8255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NEXT.JS  ·  FREIGHTER  ·  SOROBAN  ·  PRISMA / POSTGRESQL</a:t>
            </a:r>
            <a:endParaRPr lang="en-US" sz="1400" dirty="0"/>
          </a:p>
        </p:txBody>
      </p:sp>
      <p:sp>
        <p:nvSpPr>
          <p:cNvPr id="11" name="cover-page"/>
          <p:cNvSpPr/>
          <p:nvPr/>
        </p:nvSpPr>
        <p:spPr>
          <a:xfrm>
            <a:off x="762000" y="86106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12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lem-top-rule"/>
          <p:cNvSpPr/>
          <p:nvPr/>
        </p:nvSpPr>
        <p:spPr>
          <a:xfrm>
            <a:off x="762000" y="228600"/>
            <a:ext cx="14732000" cy="9144"/>
          </a:xfrm>
          <a:prstGeom prst="line">
            <a:avLst/>
          </a:prstGeom>
          <a:ln w="25400">
            <a:solidFill>
              <a:srgbClr val="00F0FF"/>
            </a:solidFill>
            <a:prstDash val="solid"/>
          </a:ln>
        </p:spPr>
      </p:sp>
      <p:sp>
        <p:nvSpPr>
          <p:cNvPr id="3" name="problem-kicker"/>
          <p:cNvSpPr/>
          <p:nvPr/>
        </p:nvSpPr>
        <p:spPr>
          <a:xfrm>
            <a:off x="762000" y="9144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FF0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 /  THE FRICTION</a:t>
            </a:r>
            <a:endParaRPr lang="en-US" sz="1400" dirty="0"/>
          </a:p>
        </p:txBody>
      </p:sp>
      <p:sp>
        <p:nvSpPr>
          <p:cNvPr id="4" name="problem-title"/>
          <p:cNvSpPr/>
          <p:nvPr/>
        </p:nvSpPr>
        <p:spPr>
          <a:xfrm>
            <a:off x="762000" y="1397000"/>
            <a:ext cx="685800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altLang="en-US" sz="3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Web3 asks users to understand the rails before they feel the value.</a:t>
            </a:r>
            <a:endParaRPr lang="en-US" sz="3800" dirty="0"/>
          </a:p>
        </p:txBody>
      </p:sp>
      <p:sp>
        <p:nvSpPr>
          <p:cNvPr id="5" name="problem-body"/>
          <p:cNvSpPr/>
          <p:nvPr/>
        </p:nvSpPr>
        <p:spPr>
          <a:xfrm>
            <a:off x="762000" y="3073400"/>
            <a:ext cx="6350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1625" indent="-301625">
              <a:lnSpc>
                <a:spcPts val="2755"/>
              </a:lnSpc>
              <a:spcBef>
                <a:spcPts val="10"/>
              </a:spcBef>
              <a:buSzPct val="100000"/>
              <a:buChar char="—"/>
            </a:pPr>
            <a:r>
              <a:rPr lang="en-US" altLang="en-US" sz="1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First-time users must navigate wallet installation, network selection, approval, and signing before the first meaningful action.</a:t>
            </a:r>
            <a:endParaRPr lang="en-US" sz="1900" dirty="0"/>
          </a:p>
          <a:p>
            <a:pPr algn="l" marL="301625" indent="-301625">
              <a:lnSpc>
                <a:spcPts val="2755"/>
              </a:lnSpc>
              <a:spcBef>
                <a:spcPts val="10"/>
              </a:spcBef>
              <a:buSzPct val="100000"/>
              <a:buChar char="—"/>
            </a:pPr>
            <a:r>
              <a:rPr lang="en-US" altLang="en-US" sz="1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Transactions can feel invisible after clicking “submit,” leaving users unsure whether to wait, retry, or verify a receipt.</a:t>
            </a:r>
            <a:endParaRPr lang="en-US" sz="1900" dirty="0"/>
          </a:p>
          <a:p>
            <a:pPr algn="l" marL="301625" indent="-301625">
              <a:lnSpc>
                <a:spcPts val="2755"/>
              </a:lnSpc>
              <a:spcBef>
                <a:spcPts val="10"/>
              </a:spcBef>
              <a:buSzPct val="100000"/>
              <a:buChar char="—"/>
            </a:pPr>
            <a:r>
              <a:rPr lang="en-US" altLang="en-US" sz="1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Builders need a human-scale, reviewable way to demonstrate real on-chain participation without hiding the technical truth.</a:t>
            </a:r>
            <a:endParaRPr lang="en-US" sz="1900" dirty="0"/>
          </a:p>
        </p:txBody>
      </p:sp>
      <p:sp>
        <p:nvSpPr>
          <p:cNvPr id="6" name="problem-connector-1"/>
          <p:cNvSpPr/>
          <p:nvPr/>
        </p:nvSpPr>
        <p:spPr>
          <a:xfrm>
            <a:off x="9588500" y="3111500"/>
            <a:ext cx="1333500" cy="9144"/>
          </a:xfrm>
          <a:prstGeom prst="line">
            <a:avLst/>
          </a:prstGeom>
          <a:ln w="25400">
            <a:solidFill>
              <a:srgbClr val="FF007F"/>
            </a:solidFill>
            <a:prstDash val="solid"/>
            <a:tailEnd type="triangle"/>
          </a:ln>
        </p:spPr>
      </p:sp>
      <p:sp>
        <p:nvSpPr>
          <p:cNvPr id="7" name="problem-connector-2"/>
          <p:cNvSpPr/>
          <p:nvPr/>
        </p:nvSpPr>
        <p:spPr>
          <a:xfrm>
            <a:off x="11811000" y="3111500"/>
            <a:ext cx="1333500" cy="9144"/>
          </a:xfrm>
          <a:prstGeom prst="line">
            <a:avLst/>
          </a:prstGeom>
          <a:ln w="25400">
            <a:solidFill>
              <a:srgbClr val="FF007F"/>
            </a:solidFill>
            <a:prstDash val="solid"/>
            <a:tailEnd type="triangle"/>
          </a:ln>
        </p:spPr>
      </p:sp>
      <p:sp>
        <p:nvSpPr>
          <p:cNvPr id="8" name="problem-connector-3"/>
          <p:cNvSpPr/>
          <p:nvPr/>
        </p:nvSpPr>
        <p:spPr>
          <a:xfrm>
            <a:off x="14033500" y="3111500"/>
            <a:ext cx="1333500" cy="9144"/>
          </a:xfrm>
          <a:prstGeom prst="line">
            <a:avLst/>
          </a:prstGeom>
          <a:ln w="25400">
            <a:solidFill>
              <a:srgbClr val="FF007F"/>
            </a:solidFill>
            <a:prstDash val="solid"/>
            <a:tailEnd type="triangle"/>
          </a:ln>
        </p:spPr>
      </p:sp>
      <p:sp>
        <p:nvSpPr>
          <p:cNvPr id="9" name="problem-card-wallet"/>
          <p:cNvSpPr/>
          <p:nvPr/>
        </p:nvSpPr>
        <p:spPr>
          <a:xfrm>
            <a:off x="8382000" y="2349500"/>
            <a:ext cx="1841500" cy="1524000"/>
          </a:xfrm>
          <a:prstGeom prst="rect">
            <a:avLst/>
          </a:prstGeom>
          <a:solidFill>
            <a:srgbClr val="131B33"/>
          </a:solidFill>
          <a:ln w="12700">
            <a:solidFill>
              <a:srgbClr val="2A3655"/>
            </a:solidFill>
            <a:prstDash val="solid"/>
          </a:ln>
        </p:spPr>
      </p:sp>
      <p:sp>
        <p:nvSpPr>
          <p:cNvPr id="10" name="problem-card-network"/>
          <p:cNvSpPr/>
          <p:nvPr/>
        </p:nvSpPr>
        <p:spPr>
          <a:xfrm>
            <a:off x="10604500" y="2349500"/>
            <a:ext cx="1841500" cy="1524000"/>
          </a:xfrm>
          <a:prstGeom prst="rect">
            <a:avLst/>
          </a:prstGeom>
          <a:solidFill>
            <a:srgbClr val="131B33"/>
          </a:solidFill>
          <a:ln w="12700">
            <a:solidFill>
              <a:srgbClr val="2A3655"/>
            </a:solidFill>
            <a:prstDash val="solid"/>
          </a:ln>
        </p:spPr>
      </p:sp>
      <p:sp>
        <p:nvSpPr>
          <p:cNvPr id="11" name="problem-card-sign"/>
          <p:cNvSpPr/>
          <p:nvPr/>
        </p:nvSpPr>
        <p:spPr>
          <a:xfrm>
            <a:off x="12827000" y="2349500"/>
            <a:ext cx="1841500" cy="1524000"/>
          </a:xfrm>
          <a:prstGeom prst="rect">
            <a:avLst/>
          </a:prstGeom>
          <a:solidFill>
            <a:srgbClr val="131B33"/>
          </a:solidFill>
          <a:ln w="12700">
            <a:solidFill>
              <a:srgbClr val="2A3655"/>
            </a:solidFill>
            <a:prstDash val="solid"/>
          </a:ln>
        </p:spPr>
      </p:sp>
      <p:sp>
        <p:nvSpPr>
          <p:cNvPr id="12" name="problem-card-receipt"/>
          <p:cNvSpPr/>
          <p:nvPr/>
        </p:nvSpPr>
        <p:spPr>
          <a:xfrm>
            <a:off x="15049500" y="2349500"/>
            <a:ext cx="444500" cy="1524000"/>
          </a:xfrm>
          <a:prstGeom prst="rect">
            <a:avLst/>
          </a:prstGeom>
          <a:solidFill>
            <a:srgbClr val="FF007F">
              <a:alpha val="85000"/>
            </a:srgbClr>
          </a:solidFill>
          <a:ln/>
        </p:spPr>
      </p:sp>
      <p:sp>
        <p:nvSpPr>
          <p:cNvPr id="13" name="problem-wallet-label"/>
          <p:cNvSpPr/>
          <p:nvPr/>
        </p:nvSpPr>
        <p:spPr>
          <a:xfrm>
            <a:off x="8610600" y="2641600"/>
            <a:ext cx="1397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Wallet</a:t>
            </a:r>
            <a:endParaRPr lang="en-US" sz="1800" dirty="0"/>
          </a:p>
        </p:txBody>
      </p:sp>
      <p:sp>
        <p:nvSpPr>
          <p:cNvPr id="14" name="problem-wallet-copy"/>
          <p:cNvSpPr/>
          <p:nvPr/>
        </p:nvSpPr>
        <p:spPr>
          <a:xfrm>
            <a:off x="8610600" y="3111500"/>
            <a:ext cx="1397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Install + approve</a:t>
            </a:r>
            <a:endParaRPr lang="en-US" sz="1400" dirty="0"/>
          </a:p>
        </p:txBody>
      </p:sp>
      <p:sp>
        <p:nvSpPr>
          <p:cNvPr id="15" name="problem-network-label"/>
          <p:cNvSpPr/>
          <p:nvPr/>
        </p:nvSpPr>
        <p:spPr>
          <a:xfrm>
            <a:off x="10833100" y="2641600"/>
            <a:ext cx="1397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</a:t>
            </a:r>
            <a:endParaRPr lang="en-US" sz="1800" dirty="0"/>
          </a:p>
        </p:txBody>
      </p:sp>
      <p:sp>
        <p:nvSpPr>
          <p:cNvPr id="16" name="problem-network-copy"/>
          <p:cNvSpPr/>
          <p:nvPr/>
        </p:nvSpPr>
        <p:spPr>
          <a:xfrm>
            <a:off x="10833100" y="3111500"/>
            <a:ext cx="1397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Testnet context</a:t>
            </a:r>
            <a:endParaRPr lang="en-US" sz="1400" dirty="0"/>
          </a:p>
        </p:txBody>
      </p:sp>
      <p:sp>
        <p:nvSpPr>
          <p:cNvPr id="17" name="problem-sign-label"/>
          <p:cNvSpPr/>
          <p:nvPr/>
        </p:nvSpPr>
        <p:spPr>
          <a:xfrm>
            <a:off x="13055600" y="2641600"/>
            <a:ext cx="1397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</a:t>
            </a:r>
            <a:endParaRPr lang="en-US" sz="1800" dirty="0"/>
          </a:p>
        </p:txBody>
      </p:sp>
      <p:sp>
        <p:nvSpPr>
          <p:cNvPr id="18" name="problem-sign-copy"/>
          <p:cNvSpPr/>
          <p:nvPr/>
        </p:nvSpPr>
        <p:spPr>
          <a:xfrm>
            <a:off x="13055600" y="3111500"/>
            <a:ext cx="1397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Pending? Failed?</a:t>
            </a:r>
            <a:endParaRPr lang="en-US" sz="1400" dirty="0"/>
          </a:p>
        </p:txBody>
      </p:sp>
      <p:sp>
        <p:nvSpPr>
          <p:cNvPr id="19" name="problem-receipt-label"/>
          <p:cNvSpPr/>
          <p:nvPr/>
        </p:nvSpPr>
        <p:spPr>
          <a:xfrm rot="5400000">
            <a:off x="14732000" y="46355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FF0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RECEIPT</a:t>
            </a:r>
            <a:endParaRPr lang="en-US" sz="1400" dirty="0"/>
          </a:p>
        </p:txBody>
      </p:sp>
      <p:sp>
        <p:nvSpPr>
          <p:cNvPr id="20" name="problem-friction-note"/>
          <p:cNvSpPr/>
          <p:nvPr/>
        </p:nvSpPr>
        <p:spPr>
          <a:xfrm>
            <a:off x="8382000" y="4699000"/>
            <a:ext cx="711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alt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Noodle Nova makes the invisible steps explicit — without hiding the chain.</a:t>
            </a:r>
            <a:endParaRPr lang="en-US" sz="2400" dirty="0"/>
          </a:p>
        </p:txBody>
      </p:sp>
      <p:sp>
        <p:nvSpPr>
          <p:cNvPr id="21" name="problem-bottom-rule"/>
          <p:cNvSpPr/>
          <p:nvPr/>
        </p:nvSpPr>
        <p:spPr>
          <a:xfrm>
            <a:off x="8382000" y="6794500"/>
            <a:ext cx="7112000" cy="9144"/>
          </a:xfrm>
          <a:prstGeom prst="line">
            <a:avLst/>
          </a:prstGeom>
          <a:ln w="12700">
            <a:solidFill>
              <a:srgbClr val="2A3655"/>
            </a:solidFill>
            <a:prstDash val="solid"/>
          </a:ln>
        </p:spPr>
      </p:sp>
      <p:sp>
        <p:nvSpPr>
          <p:cNvPr id="22" name="problem-bottom-note"/>
          <p:cNvSpPr/>
          <p:nvPr/>
        </p:nvSpPr>
        <p:spPr>
          <a:xfrm>
            <a:off x="8382000" y="7048500"/>
            <a:ext cx="7112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goal is not to abstract away Web3. It is to make the first interaction legible.</a:t>
            </a:r>
            <a:endParaRPr lang="en-US" sz="1400" dirty="0"/>
          </a:p>
        </p:txBody>
      </p:sp>
      <p:sp>
        <p:nvSpPr>
          <p:cNvPr id="23" name="problem-page"/>
          <p:cNvSpPr/>
          <p:nvPr/>
        </p:nvSpPr>
        <p:spPr>
          <a:xfrm>
            <a:off x="762000" y="86106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12</a:t>
            </a:r>
            <a:endParaRPr lang="en-US" sz="1200" dirty="0"/>
          </a:p>
        </p:txBody>
      </p:sp>
      <p:sp>
        <p:nvSpPr>
          <p:cNvPr id="24" name="problem-source"/>
          <p:cNvSpPr/>
          <p:nvPr/>
        </p:nvSpPr>
        <p:spPr>
          <a:xfrm>
            <a:off x="7874000" y="86106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Noodle Nova product baseline audit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lution-top-rule"/>
          <p:cNvSpPr/>
          <p:nvPr/>
        </p:nvSpPr>
        <p:spPr>
          <a:xfrm>
            <a:off x="762000" y="228600"/>
            <a:ext cx="14732000" cy="9144"/>
          </a:xfrm>
          <a:prstGeom prst="line">
            <a:avLst/>
          </a:prstGeom>
          <a:ln w="25400">
            <a:solidFill>
              <a:srgbClr val="00F0FF"/>
            </a:solidFill>
            <a:prstDash val="solid"/>
          </a:ln>
        </p:spPr>
      </p:sp>
      <p:sp>
        <p:nvSpPr>
          <p:cNvPr id="3" name="solution-kicker"/>
          <p:cNvSpPr/>
          <p:nvPr/>
        </p:nvSpPr>
        <p:spPr>
          <a:xfrm>
            <a:off x="762000" y="9144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 /  THE SOLUTION</a:t>
            </a:r>
            <a:endParaRPr lang="en-US" sz="1400" dirty="0"/>
          </a:p>
        </p:txBody>
      </p:sp>
      <p:sp>
        <p:nvSpPr>
          <p:cNvPr id="4" name="solution-title"/>
          <p:cNvSpPr/>
          <p:nvPr/>
        </p:nvSpPr>
        <p:spPr>
          <a:xfrm>
            <a:off x="762000" y="1397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the first route feel obvious.</a:t>
            </a:r>
            <a:endParaRPr lang="en-US" sz="3800" dirty="0"/>
          </a:p>
        </p:txBody>
      </p:sp>
      <p:sp>
        <p:nvSpPr>
          <p:cNvPr id="5" name="solution-subtitle"/>
          <p:cNvSpPr/>
          <p:nvPr/>
        </p:nvSpPr>
        <p:spPr>
          <a:xfrm>
            <a:off x="762000" y="2184400"/>
            <a:ext cx="11176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Noodle Nova turns the technical path into a guided courier loop that stays non-custodial and verifiable.</a:t>
            </a:r>
            <a:endParaRPr lang="en-US" sz="1800" dirty="0"/>
          </a:p>
        </p:txBody>
      </p:sp>
      <p:sp>
        <p:nvSpPr>
          <p:cNvPr id="6" name="solution-card-1"/>
          <p:cNvSpPr/>
          <p:nvPr/>
        </p:nvSpPr>
        <p:spPr>
          <a:xfrm>
            <a:off x="762000" y="2921000"/>
            <a:ext cx="3810000" cy="2984500"/>
          </a:xfrm>
          <a:prstGeom prst="rect">
            <a:avLst/>
          </a:prstGeom>
          <a:solidFill>
            <a:srgbClr val="131B33"/>
          </a:solidFill>
          <a:ln w="12700">
            <a:solidFill>
              <a:srgbClr val="2A3655"/>
            </a:solidFill>
            <a:prstDash val="solid"/>
          </a:ln>
        </p:spPr>
      </p:sp>
      <p:sp>
        <p:nvSpPr>
          <p:cNvPr id="7" name="solution-card-2"/>
          <p:cNvSpPr/>
          <p:nvPr/>
        </p:nvSpPr>
        <p:spPr>
          <a:xfrm>
            <a:off x="5588000" y="2921000"/>
            <a:ext cx="3810000" cy="2984500"/>
          </a:xfrm>
          <a:prstGeom prst="rect">
            <a:avLst/>
          </a:prstGeom>
          <a:solidFill>
            <a:srgbClr val="131B33"/>
          </a:solidFill>
          <a:ln w="12700">
            <a:solidFill>
              <a:srgbClr val="2A3655"/>
            </a:solidFill>
            <a:prstDash val="solid"/>
          </a:ln>
        </p:spPr>
      </p:sp>
      <p:sp>
        <p:nvSpPr>
          <p:cNvPr id="8" name="solution-card-3"/>
          <p:cNvSpPr/>
          <p:nvPr/>
        </p:nvSpPr>
        <p:spPr>
          <a:xfrm>
            <a:off x="10414000" y="2921000"/>
            <a:ext cx="3810000" cy="2984500"/>
          </a:xfrm>
          <a:prstGeom prst="rect">
            <a:avLst/>
          </a:prstGeom>
          <a:solidFill>
            <a:srgbClr val="131B33"/>
          </a:solidFill>
          <a:ln w="12700">
            <a:solidFill>
              <a:srgbClr val="2A3655"/>
            </a:solidFill>
            <a:prstDash val="solid"/>
          </a:ln>
        </p:spPr>
      </p:sp>
      <p:sp>
        <p:nvSpPr>
          <p:cNvPr id="9" name="solution-step-1"/>
          <p:cNvSpPr/>
          <p:nvPr/>
        </p:nvSpPr>
        <p:spPr>
          <a:xfrm>
            <a:off x="1066800" y="3238500"/>
            <a:ext cx="685800" cy="533400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10" name="solution-step-2"/>
          <p:cNvSpPr/>
          <p:nvPr/>
        </p:nvSpPr>
        <p:spPr>
          <a:xfrm>
            <a:off x="5892800" y="3238500"/>
            <a:ext cx="685800" cy="533400"/>
          </a:xfrm>
          <a:prstGeom prst="rect">
            <a:avLst/>
          </a:prstGeom>
          <a:solidFill>
            <a:srgbClr val="FF007F"/>
          </a:solidFill>
          <a:ln/>
        </p:spPr>
      </p:sp>
      <p:sp>
        <p:nvSpPr>
          <p:cNvPr id="11" name="solution-step-3"/>
          <p:cNvSpPr/>
          <p:nvPr/>
        </p:nvSpPr>
        <p:spPr>
          <a:xfrm>
            <a:off x="10718800" y="3238500"/>
            <a:ext cx="685800" cy="53340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2" name="solution-step-1-text"/>
          <p:cNvSpPr/>
          <p:nvPr/>
        </p:nvSpPr>
        <p:spPr>
          <a:xfrm>
            <a:off x="1066800" y="3340100"/>
            <a:ext cx="685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0B10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000" dirty="0"/>
          </a:p>
        </p:txBody>
      </p:sp>
      <p:sp>
        <p:nvSpPr>
          <p:cNvPr id="13" name="solution-step-2-text"/>
          <p:cNvSpPr/>
          <p:nvPr/>
        </p:nvSpPr>
        <p:spPr>
          <a:xfrm>
            <a:off x="5892800" y="3340100"/>
            <a:ext cx="685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0B10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solution-step-3-text"/>
          <p:cNvSpPr/>
          <p:nvPr/>
        </p:nvSpPr>
        <p:spPr>
          <a:xfrm>
            <a:off x="10718800" y="3340100"/>
            <a:ext cx="685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0B102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solution-card-1-title"/>
          <p:cNvSpPr/>
          <p:nvPr/>
        </p:nvSpPr>
        <p:spPr>
          <a:xfrm>
            <a:off x="1066800" y="4254500"/>
            <a:ext cx="304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</a:t>
            </a:r>
            <a:endParaRPr lang="en-US" sz="2400" dirty="0"/>
          </a:p>
        </p:txBody>
      </p:sp>
      <p:sp>
        <p:nvSpPr>
          <p:cNvPr id="16" name="solution-card-1-body"/>
          <p:cNvSpPr/>
          <p:nvPr/>
        </p:nvSpPr>
        <p:spPr>
          <a:xfrm>
            <a:off x="1066800" y="4851400"/>
            <a:ext cx="3048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altLang="en-US" sz="17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Freighter wallet, Stellar Testnet, and a lightweight courier profile.</a:t>
            </a:r>
            <a:endParaRPr lang="en-US" sz="1700" dirty="0"/>
          </a:p>
        </p:txBody>
      </p:sp>
      <p:sp>
        <p:nvSpPr>
          <p:cNvPr id="17" name="solution-card-2-title"/>
          <p:cNvSpPr/>
          <p:nvPr/>
        </p:nvSpPr>
        <p:spPr>
          <a:xfrm>
            <a:off x="5892800" y="4254500"/>
            <a:ext cx="304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</a:t>
            </a:r>
            <a:endParaRPr lang="en-US" sz="2400" dirty="0"/>
          </a:p>
        </p:txBody>
      </p:sp>
      <p:sp>
        <p:nvSpPr>
          <p:cNvPr id="18" name="solution-card-2-body"/>
          <p:cNvSpPr/>
          <p:nvPr/>
        </p:nvSpPr>
        <p:spPr>
          <a:xfrm>
            <a:off x="5892800" y="4851400"/>
            <a:ext cx="3048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altLang="en-US" sz="17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a ramen route and trigger the real application-backed Testnet flow.</a:t>
            </a:r>
            <a:endParaRPr lang="en-US" sz="1700" dirty="0"/>
          </a:p>
        </p:txBody>
      </p:sp>
      <p:sp>
        <p:nvSpPr>
          <p:cNvPr id="19" name="solution-card-3-title"/>
          <p:cNvSpPr/>
          <p:nvPr/>
        </p:nvSpPr>
        <p:spPr>
          <a:xfrm>
            <a:off x="10718800" y="4254500"/>
            <a:ext cx="304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</a:t>
            </a:r>
            <a:endParaRPr lang="en-US" sz="2400" dirty="0"/>
          </a:p>
        </p:txBody>
      </p:sp>
      <p:sp>
        <p:nvSpPr>
          <p:cNvPr id="20" name="solution-card-3-body"/>
          <p:cNvSpPr/>
          <p:nvPr/>
        </p:nvSpPr>
        <p:spPr>
          <a:xfrm>
            <a:off x="10718800" y="4851400"/>
            <a:ext cx="3048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altLang="en-US" sz="17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 pending or confirmed status, then open the public Explorer receipt.</a:t>
            </a:r>
            <a:endParaRPr lang="en-US" sz="1700" dirty="0"/>
          </a:p>
        </p:txBody>
      </p:sp>
      <p:sp>
        <p:nvSpPr>
          <p:cNvPr id="21" name="solution-arrow-1"/>
          <p:cNvSpPr/>
          <p:nvPr/>
        </p:nvSpPr>
        <p:spPr>
          <a:xfrm>
            <a:off x="4572000" y="4419600"/>
            <a:ext cx="1016000" cy="9144"/>
          </a:xfrm>
          <a:prstGeom prst="line">
            <a:avLst/>
          </a:prstGeom>
          <a:ln w="25400">
            <a:solidFill>
              <a:srgbClr val="00F0FF"/>
            </a:solidFill>
            <a:prstDash val="solid"/>
            <a:tailEnd type="triangle"/>
          </a:ln>
        </p:spPr>
      </p:sp>
      <p:sp>
        <p:nvSpPr>
          <p:cNvPr id="22" name="solution-arrow-2"/>
          <p:cNvSpPr/>
          <p:nvPr/>
        </p:nvSpPr>
        <p:spPr>
          <a:xfrm>
            <a:off x="9398000" y="4419600"/>
            <a:ext cx="1016000" cy="9144"/>
          </a:xfrm>
          <a:prstGeom prst="line">
            <a:avLst/>
          </a:prstGeom>
          <a:ln w="25400">
            <a:solidFill>
              <a:srgbClr val="00F0FF"/>
            </a:solidFill>
            <a:prstDash val="solid"/>
            <a:tailEnd type="triangle"/>
          </a:ln>
        </p:spPr>
      </p:sp>
      <p:sp>
        <p:nvSpPr>
          <p:cNvPr id="23" name="solution-outcome-band"/>
          <p:cNvSpPr/>
          <p:nvPr/>
        </p:nvSpPr>
        <p:spPr>
          <a:xfrm>
            <a:off x="762000" y="6794500"/>
            <a:ext cx="14732000" cy="889000"/>
          </a:xfrm>
          <a:prstGeom prst="rect">
            <a:avLst/>
          </a:prstGeom>
          <a:solidFill>
            <a:srgbClr val="00F0FF">
              <a:alpha val="7000"/>
            </a:srgbClr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24" name="solution-outcome"/>
          <p:cNvSpPr/>
          <p:nvPr/>
        </p:nvSpPr>
        <p:spPr>
          <a:xfrm>
            <a:off x="1066800" y="7048500"/>
            <a:ext cx="139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playful interface on top of real rails — not a simulated blockchain demo.</a:t>
            </a:r>
            <a:endParaRPr lang="en-US" sz="2300" dirty="0"/>
          </a:p>
        </p:txBody>
      </p:sp>
      <p:sp>
        <p:nvSpPr>
          <p:cNvPr id="25" name="solution-page"/>
          <p:cNvSpPr/>
          <p:nvPr/>
        </p:nvSpPr>
        <p:spPr>
          <a:xfrm>
            <a:off x="762000" y="86106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12</a:t>
            </a:r>
            <a:endParaRPr lang="en-US" sz="1200" dirty="0"/>
          </a:p>
        </p:txBody>
      </p:sp>
      <p:sp>
        <p:nvSpPr>
          <p:cNvPr id="26" name="solution-source"/>
          <p:cNvSpPr/>
          <p:nvPr/>
        </p:nvSpPr>
        <p:spPr>
          <a:xfrm>
            <a:off x="7874000" y="86106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Noodle Nova product flow and Testnet architecture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duct-top-rule"/>
          <p:cNvSpPr/>
          <p:nvPr/>
        </p:nvSpPr>
        <p:spPr>
          <a:xfrm>
            <a:off x="762000" y="228600"/>
            <a:ext cx="14732000" cy="9144"/>
          </a:xfrm>
          <a:prstGeom prst="line">
            <a:avLst/>
          </a:prstGeom>
          <a:ln w="25400">
            <a:solidFill>
              <a:srgbClr val="00F0FF"/>
            </a:solidFill>
            <a:prstDash val="solid"/>
          </a:ln>
        </p:spPr>
      </p:sp>
      <p:sp>
        <p:nvSpPr>
          <p:cNvPr id="3" name="product-kicker"/>
          <p:cNvSpPr/>
          <p:nvPr/>
        </p:nvSpPr>
        <p:spPr>
          <a:xfrm>
            <a:off x="762000" y="9144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 /  PRODUCT EXPERIENCE</a:t>
            </a:r>
            <a:endParaRPr lang="en-US" sz="1400" dirty="0"/>
          </a:p>
        </p:txBody>
      </p:sp>
      <p:sp>
        <p:nvSpPr>
          <p:cNvPr id="4" name="product-title"/>
          <p:cNvSpPr/>
          <p:nvPr/>
        </p:nvSpPr>
        <p:spPr>
          <a:xfrm>
            <a:off x="762000" y="1397000"/>
            <a:ext cx="1270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guided route from first visit to public receipt.</a:t>
            </a:r>
            <a:endParaRPr lang="en-US" sz="3800" dirty="0"/>
          </a:p>
        </p:txBody>
      </p:sp>
      <p:sp>
        <p:nvSpPr>
          <p:cNvPr id="5" name="product-subtitle"/>
          <p:cNvSpPr/>
          <p:nvPr/>
        </p:nvSpPr>
        <p:spPr>
          <a:xfrm>
            <a:off x="762000" y="2082800"/>
            <a:ext cx="1270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experience is playful on the surface, explicit about Testnet underneath.</a:t>
            </a:r>
            <a:endParaRPr lang="en-US" sz="1800" dirty="0"/>
          </a:p>
        </p:txBody>
      </p:sp>
      <p:pic>
        <p:nvPicPr>
          <p:cNvPr id="6" name="product-landing-shot" descr="preencoded.png">    </p:cNvPr>
          <p:cNvPicPr>
            <a:picLocks noChangeAspect="1"/>
          </p:cNvPicPr>
          <p:nvPr/>
        </p:nvPicPr>
        <p:blipFill>
          <a:blip r:embed="rId1"/>
          <a:srcRect l="0" r="0" t="17231" b="17231"/>
          <a:stretch/>
        </p:blipFill>
        <p:spPr>
          <a:xfrm>
            <a:off x="762000" y="2794000"/>
            <a:ext cx="6985000" cy="3937000"/>
          </a:xfrm>
          <a:prstGeom prst="rect">
            <a:avLst/>
          </a:prstGeom>
          <a:ln w="12700">
            <a:solidFill>
              <a:srgbClr val="00F0FF"/>
            </a:solidFill>
          </a:ln>
        </p:spPr>
      </p:pic>
      <p:pic>
        <p:nvPicPr>
          <p:cNvPr id="7" name="product-routes-shot" descr="preencoded.png">    </p:cNvPr>
          <p:cNvPicPr>
            <a:picLocks noChangeAspect="1"/>
          </p:cNvPicPr>
          <p:nvPr/>
        </p:nvPicPr>
        <p:blipFill>
          <a:blip r:embed="rId2"/>
          <a:srcRect l="0" r="0" t="17231" b="17231"/>
          <a:stretch/>
        </p:blipFill>
        <p:spPr>
          <a:xfrm>
            <a:off x="8509000" y="2794000"/>
            <a:ext cx="6985000" cy="3937000"/>
          </a:xfrm>
          <a:prstGeom prst="rect">
            <a:avLst/>
          </a:prstGeom>
          <a:ln w="12700">
            <a:solidFill>
              <a:srgbClr val="FF007F"/>
            </a:solidFill>
          </a:ln>
        </p:spPr>
      </p:pic>
      <p:sp>
        <p:nvSpPr>
          <p:cNvPr id="8" name="product-landing-label"/>
          <p:cNvSpPr/>
          <p:nvPr/>
        </p:nvSpPr>
        <p:spPr>
          <a:xfrm>
            <a:off x="762000" y="6858000"/>
            <a:ext cx="698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Landing → Testnet context + first-run guidance</a:t>
            </a:r>
            <a:endParaRPr lang="en-US" sz="1800" dirty="0"/>
          </a:p>
        </p:txBody>
      </p:sp>
      <p:sp>
        <p:nvSpPr>
          <p:cNvPr id="9" name="product-routes-label"/>
          <p:cNvSpPr/>
          <p:nvPr/>
        </p:nvSpPr>
        <p:spPr>
          <a:xfrm>
            <a:off x="8509000" y="6858000"/>
            <a:ext cx="698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F0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Routes → themed missions + transaction action</a:t>
            </a:r>
            <a:endParaRPr lang="en-US" sz="1800" dirty="0"/>
          </a:p>
        </p:txBody>
      </p:sp>
      <p:sp>
        <p:nvSpPr>
          <p:cNvPr id="10" name="product-bottom-rule"/>
          <p:cNvSpPr/>
          <p:nvPr/>
        </p:nvSpPr>
        <p:spPr>
          <a:xfrm>
            <a:off x="762000" y="7493000"/>
            <a:ext cx="14732000" cy="9144"/>
          </a:xfrm>
          <a:prstGeom prst="line">
            <a:avLst/>
          </a:prstGeom>
          <a:ln w="12700">
            <a:solidFill>
              <a:srgbClr val="2A3655"/>
            </a:solidFill>
            <a:prstDash val="solid"/>
          </a:ln>
        </p:spPr>
      </p:sp>
      <p:sp>
        <p:nvSpPr>
          <p:cNvPr id="11" name="product-callout"/>
          <p:cNvSpPr/>
          <p:nvPr/>
        </p:nvSpPr>
        <p:spPr>
          <a:xfrm>
            <a:off x="762000" y="77470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checklist  ·  explicit wallet errors  ·  pending / confirmed / retry states  ·  feedback loop</a:t>
            </a:r>
            <a:endParaRPr lang="en-US" sz="1800" dirty="0"/>
          </a:p>
        </p:txBody>
      </p:sp>
      <p:sp>
        <p:nvSpPr>
          <p:cNvPr id="12" name="product-page"/>
          <p:cNvSpPr/>
          <p:nvPr/>
        </p:nvSpPr>
        <p:spPr>
          <a:xfrm>
            <a:off x="762000" y="86106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12</a:t>
            </a:r>
            <a:endParaRPr lang="en-US" sz="1200" dirty="0"/>
          </a:p>
        </p:txBody>
      </p:sp>
      <p:sp>
        <p:nvSpPr>
          <p:cNvPr id="13" name="product-source"/>
          <p:cNvSpPr/>
          <p:nvPr/>
        </p:nvSpPr>
        <p:spPr>
          <a:xfrm>
            <a:off x="7874000" y="86106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local visual verification, 25 Aug 2026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chitecture-top-rule"/>
          <p:cNvSpPr/>
          <p:nvPr/>
        </p:nvSpPr>
        <p:spPr>
          <a:xfrm>
            <a:off x="762000" y="228600"/>
            <a:ext cx="14732000" cy="9144"/>
          </a:xfrm>
          <a:prstGeom prst="line">
            <a:avLst/>
          </a:prstGeom>
          <a:ln w="25400">
            <a:solidFill>
              <a:srgbClr val="00F0FF"/>
            </a:solidFill>
            <a:prstDash val="solid"/>
          </a:ln>
        </p:spPr>
      </p:sp>
      <p:sp>
        <p:nvSpPr>
          <p:cNvPr id="3" name="architecture-kicker"/>
          <p:cNvSpPr/>
          <p:nvPr/>
        </p:nvSpPr>
        <p:spPr>
          <a:xfrm>
            <a:off x="762000" y="9144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 /  ARCHITECTURE</a:t>
            </a:r>
            <a:endParaRPr lang="en-US" sz="1400" dirty="0"/>
          </a:p>
        </p:txBody>
      </p:sp>
      <p:sp>
        <p:nvSpPr>
          <p:cNvPr id="4" name="architecture-title"/>
          <p:cNvSpPr/>
          <p:nvPr/>
        </p:nvSpPr>
        <p:spPr>
          <a:xfrm>
            <a:off x="762000" y="1397000"/>
            <a:ext cx="1244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familiar web stack with Stellar at the proof layer.</a:t>
            </a:r>
            <a:endParaRPr lang="en-US" sz="3800" dirty="0"/>
          </a:p>
        </p:txBody>
      </p:sp>
      <p:sp>
        <p:nvSpPr>
          <p:cNvPr id="5" name="architecture-subtitle"/>
          <p:cNvSpPr/>
          <p:nvPr/>
        </p:nvSpPr>
        <p:spPr>
          <a:xfrm>
            <a:off x="762000" y="2133600"/>
            <a:ext cx="14224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user action moves through a clear boundary: browser → API → database / Horizon → public receipt.</a:t>
            </a:r>
            <a:endParaRPr lang="en-US" sz="1800" dirty="0"/>
          </a:p>
        </p:txBody>
      </p:sp>
      <p:sp>
        <p:nvSpPr>
          <p:cNvPr id="6" name="architecture-client"/>
          <p:cNvSpPr/>
          <p:nvPr/>
        </p:nvSpPr>
        <p:spPr>
          <a:xfrm>
            <a:off x="762000" y="2921000"/>
            <a:ext cx="2540000" cy="2286000"/>
          </a:xfrm>
          <a:prstGeom prst="rect">
            <a:avLst/>
          </a:prstGeom>
          <a:solidFill>
            <a:srgbClr val="131B33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7" name="architecture-api"/>
          <p:cNvSpPr/>
          <p:nvPr/>
        </p:nvSpPr>
        <p:spPr>
          <a:xfrm>
            <a:off x="4064000" y="2921000"/>
            <a:ext cx="2540000" cy="2286000"/>
          </a:xfrm>
          <a:prstGeom prst="rect">
            <a:avLst/>
          </a:prstGeom>
          <a:solidFill>
            <a:srgbClr val="131B33"/>
          </a:solidFill>
          <a:ln w="12700">
            <a:solidFill>
              <a:srgbClr val="2A3655"/>
            </a:solidFill>
            <a:prstDash val="solid"/>
          </a:ln>
        </p:spPr>
      </p:sp>
      <p:sp>
        <p:nvSpPr>
          <p:cNvPr id="8" name="architecture-data"/>
          <p:cNvSpPr/>
          <p:nvPr/>
        </p:nvSpPr>
        <p:spPr>
          <a:xfrm>
            <a:off x="7366000" y="2921000"/>
            <a:ext cx="2540000" cy="2286000"/>
          </a:xfrm>
          <a:prstGeom prst="rect">
            <a:avLst/>
          </a:prstGeom>
          <a:solidFill>
            <a:srgbClr val="131B33"/>
          </a:solidFill>
          <a:ln w="12700">
            <a:solidFill>
              <a:srgbClr val="2A3655"/>
            </a:solidFill>
            <a:prstDash val="solid"/>
          </a:ln>
        </p:spPr>
      </p:sp>
      <p:sp>
        <p:nvSpPr>
          <p:cNvPr id="9" name="architecture-stellar"/>
          <p:cNvSpPr/>
          <p:nvPr/>
        </p:nvSpPr>
        <p:spPr>
          <a:xfrm>
            <a:off x="10668000" y="2921000"/>
            <a:ext cx="4064000" cy="2286000"/>
          </a:xfrm>
          <a:prstGeom prst="rect">
            <a:avLst/>
          </a:prstGeom>
          <a:solidFill>
            <a:srgbClr val="131B33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0" name="architecture-arrow-1"/>
          <p:cNvSpPr/>
          <p:nvPr/>
        </p:nvSpPr>
        <p:spPr>
          <a:xfrm>
            <a:off x="3302000" y="4064000"/>
            <a:ext cx="762000" cy="9144"/>
          </a:xfrm>
          <a:prstGeom prst="line">
            <a:avLst/>
          </a:prstGeom>
          <a:ln w="25400">
            <a:solidFill>
              <a:srgbClr val="00F0FF"/>
            </a:solidFill>
            <a:prstDash val="solid"/>
            <a:tailEnd type="triangle"/>
          </a:ln>
        </p:spPr>
      </p:sp>
      <p:sp>
        <p:nvSpPr>
          <p:cNvPr id="11" name="architecture-arrow-2"/>
          <p:cNvSpPr/>
          <p:nvPr/>
        </p:nvSpPr>
        <p:spPr>
          <a:xfrm>
            <a:off x="6604000" y="4064000"/>
            <a:ext cx="762000" cy="9144"/>
          </a:xfrm>
          <a:prstGeom prst="line">
            <a:avLst/>
          </a:prstGeom>
          <a:ln w="25400">
            <a:solidFill>
              <a:srgbClr val="00F0FF"/>
            </a:solidFill>
            <a:prstDash val="solid"/>
            <a:tailEnd type="triangle"/>
          </a:ln>
        </p:spPr>
      </p:sp>
      <p:sp>
        <p:nvSpPr>
          <p:cNvPr id="12" name="architecture-arrow-3"/>
          <p:cNvSpPr/>
          <p:nvPr/>
        </p:nvSpPr>
        <p:spPr>
          <a:xfrm>
            <a:off x="9906000" y="4064000"/>
            <a:ext cx="762000" cy="9144"/>
          </a:xfrm>
          <a:prstGeom prst="line">
            <a:avLst/>
          </a:prstGeom>
          <a:ln w="25400">
            <a:solidFill>
              <a:srgbClr val="00F0FF"/>
            </a:solidFill>
            <a:prstDash val="solid"/>
            <a:tailEnd type="triangle"/>
          </a:ln>
        </p:spPr>
      </p:sp>
      <p:sp>
        <p:nvSpPr>
          <p:cNvPr id="13" name="architecture-client-title"/>
          <p:cNvSpPr/>
          <p:nvPr/>
        </p:nvSpPr>
        <p:spPr>
          <a:xfrm>
            <a:off x="1066800" y="3302000"/>
            <a:ext cx="190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</a:t>
            </a:r>
            <a:endParaRPr lang="en-US" sz="2200" dirty="0"/>
          </a:p>
        </p:txBody>
      </p:sp>
      <p:sp>
        <p:nvSpPr>
          <p:cNvPr id="14" name="architecture-client-body"/>
          <p:cNvSpPr/>
          <p:nvPr/>
        </p:nvSpPr>
        <p:spPr>
          <a:xfrm>
            <a:off x="1066800" y="3898900"/>
            <a:ext cx="1905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alt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Next.js 14 React + TypeScript Tailwind CSS Freighter context</a:t>
            </a:r>
            <a:endParaRPr lang="en-US" sz="1700" dirty="0"/>
          </a:p>
        </p:txBody>
      </p:sp>
      <p:sp>
        <p:nvSpPr>
          <p:cNvPr id="15" name="architecture-api-title"/>
          <p:cNvSpPr/>
          <p:nvPr/>
        </p:nvSpPr>
        <p:spPr>
          <a:xfrm>
            <a:off x="4368800" y="3302000"/>
            <a:ext cx="190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</a:t>
            </a:r>
            <a:endParaRPr lang="en-US" sz="2200" dirty="0"/>
          </a:p>
        </p:txBody>
      </p:sp>
      <p:sp>
        <p:nvSpPr>
          <p:cNvPr id="16" name="architecture-api-body"/>
          <p:cNvSpPr/>
          <p:nvPr/>
        </p:nvSpPr>
        <p:spPr>
          <a:xfrm>
            <a:off x="4368800" y="3898900"/>
            <a:ext cx="1905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altLang="en-US" sz="17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Next.js route handlers users · rewards transactions · feedback stats</a:t>
            </a:r>
            <a:endParaRPr lang="en-US" sz="1700" dirty="0"/>
          </a:p>
        </p:txBody>
      </p:sp>
      <p:sp>
        <p:nvSpPr>
          <p:cNvPr id="17" name="architecture-data-title"/>
          <p:cNvSpPr/>
          <p:nvPr/>
        </p:nvSpPr>
        <p:spPr>
          <a:xfrm>
            <a:off x="7670800" y="3302000"/>
            <a:ext cx="190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</a:t>
            </a:r>
            <a:endParaRPr lang="en-US" sz="2200" dirty="0"/>
          </a:p>
        </p:txBody>
      </p:sp>
      <p:sp>
        <p:nvSpPr>
          <p:cNvPr id="18" name="architecture-data-body"/>
          <p:cNvSpPr/>
          <p:nvPr/>
        </p:nvSpPr>
        <p:spPr>
          <a:xfrm>
            <a:off x="7670800" y="3898900"/>
            <a:ext cx="1905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altLang="en-US" sz="17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Prisma Client PostgreSQL User / Transaction / Feedback models</a:t>
            </a:r>
            <a:endParaRPr lang="en-US" sz="1700" dirty="0"/>
          </a:p>
        </p:txBody>
      </p:sp>
      <p:sp>
        <p:nvSpPr>
          <p:cNvPr id="19" name="architecture-stellar-title"/>
          <p:cNvSpPr/>
          <p:nvPr/>
        </p:nvSpPr>
        <p:spPr>
          <a:xfrm>
            <a:off x="10972800" y="3302000"/>
            <a:ext cx="317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Stellar proof layer</a:t>
            </a:r>
            <a:endParaRPr lang="en-US" sz="2200" dirty="0"/>
          </a:p>
        </p:txBody>
      </p:sp>
      <p:sp>
        <p:nvSpPr>
          <p:cNvPr id="20" name="architecture-stellar-body"/>
          <p:cNvSpPr/>
          <p:nvPr/>
        </p:nvSpPr>
        <p:spPr>
          <a:xfrm>
            <a:off x="10972800" y="3898900"/>
            <a:ext cx="3175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alt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Horizon Testnet payments Soroban DeliveryEscrow Stellar Expert receipts Public verifiability</a:t>
            </a:r>
            <a:endParaRPr lang="en-US" sz="1700" dirty="0"/>
          </a:p>
        </p:txBody>
      </p:sp>
      <p:sp>
        <p:nvSpPr>
          <p:cNvPr id="21" name="architecture-ops"/>
          <p:cNvSpPr/>
          <p:nvPr/>
        </p:nvSpPr>
        <p:spPr>
          <a:xfrm>
            <a:off x="762000" y="6032500"/>
            <a:ext cx="13970000" cy="1016000"/>
          </a:xfrm>
          <a:prstGeom prst="rect">
            <a:avLst/>
          </a:prstGeom>
          <a:solidFill>
            <a:srgbClr val="00F0FF">
              <a:alpha val="5000"/>
            </a:srgbClr>
          </a:solidFill>
          <a:ln w="12700">
            <a:solidFill>
              <a:srgbClr val="2A3655"/>
            </a:solidFill>
            <a:prstDash val="solid"/>
          </a:ln>
        </p:spPr>
      </p:sp>
      <p:sp>
        <p:nvSpPr>
          <p:cNvPr id="22" name="architecture-ops-title"/>
          <p:cNvSpPr/>
          <p:nvPr/>
        </p:nvSpPr>
        <p:spPr>
          <a:xfrm>
            <a:off x="1066800" y="6350000"/>
            <a:ext cx="203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Operations</a:t>
            </a:r>
            <a:endParaRPr lang="en-US" sz="1800" dirty="0"/>
          </a:p>
        </p:txBody>
      </p:sp>
      <p:sp>
        <p:nvSpPr>
          <p:cNvPr id="23" name="architecture-ops-body"/>
          <p:cNvSpPr/>
          <p:nvPr/>
        </p:nvSpPr>
        <p:spPr>
          <a:xfrm>
            <a:off x="3302000" y="6350000"/>
            <a:ext cx="1079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Vercel deployment  ·  GitHub Actions tests/build  ·  Vercel Analytics events  ·  explicit Testnet warnings</a:t>
            </a:r>
            <a:endParaRPr lang="en-US" sz="1700" dirty="0"/>
          </a:p>
        </p:txBody>
      </p:sp>
      <p:sp>
        <p:nvSpPr>
          <p:cNvPr id="24" name="architecture-note"/>
          <p:cNvSpPr/>
          <p:nvPr/>
        </p:nvSpPr>
        <p:spPr>
          <a:xfrm>
            <a:off x="762000" y="7518400"/>
            <a:ext cx="1397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Level 5 iteration changed the user-facing flow and CI test scope; the Soroban contract and database schema remain unchanged.</a:t>
            </a:r>
            <a:endParaRPr lang="en-US" sz="1400" dirty="0"/>
          </a:p>
        </p:txBody>
      </p:sp>
      <p:sp>
        <p:nvSpPr>
          <p:cNvPr id="25" name="architecture-page"/>
          <p:cNvSpPr/>
          <p:nvPr/>
        </p:nvSpPr>
        <p:spPr>
          <a:xfrm>
            <a:off x="762000" y="86106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12</a:t>
            </a:r>
            <a:endParaRPr lang="en-US" sz="1200" dirty="0"/>
          </a:p>
        </p:txBody>
      </p:sp>
      <p:sp>
        <p:nvSpPr>
          <p:cNvPr id="26" name="architecture-source"/>
          <p:cNvSpPr/>
          <p:nvPr/>
        </p:nvSpPr>
        <p:spPr>
          <a:xfrm>
            <a:off x="7874000" y="86106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submission/noodlenova-architecture.png and repository audit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of-top-rule"/>
          <p:cNvSpPr/>
          <p:nvPr/>
        </p:nvSpPr>
        <p:spPr>
          <a:xfrm>
            <a:off x="762000" y="228600"/>
            <a:ext cx="14732000" cy="9144"/>
          </a:xfrm>
          <a:prstGeom prst="line">
            <a:avLst/>
          </a:prstGeom>
          <a:ln w="25400">
            <a:solidFill>
              <a:srgbClr val="00F0FF"/>
            </a:solidFill>
            <a:prstDash val="solid"/>
          </a:ln>
        </p:spPr>
      </p:sp>
      <p:sp>
        <p:nvSpPr>
          <p:cNvPr id="3" name="proof-kicker"/>
          <p:cNvSpPr/>
          <p:nvPr/>
        </p:nvSpPr>
        <p:spPr>
          <a:xfrm>
            <a:off x="762000" y="9144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 /  REAL STELLAR PROOF</a:t>
            </a:r>
            <a:endParaRPr lang="en-US" sz="1400" dirty="0"/>
          </a:p>
        </p:txBody>
      </p:sp>
      <p:sp>
        <p:nvSpPr>
          <p:cNvPr id="4" name="proof-title"/>
          <p:cNvSpPr/>
          <p:nvPr/>
        </p:nvSpPr>
        <p:spPr>
          <a:xfrm>
            <a:off x="762000" y="1397000"/>
            <a:ext cx="133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 receipts make the demo reviewable.</a:t>
            </a:r>
            <a:endParaRPr lang="en-US" sz="3800" dirty="0"/>
          </a:p>
        </p:txBody>
      </p:sp>
      <p:sp>
        <p:nvSpPr>
          <p:cNvPr id="5" name="proof-subtitle"/>
          <p:cNvSpPr/>
          <p:nvPr/>
        </p:nvSpPr>
        <p:spPr>
          <a:xfrm>
            <a:off x="762000" y="2108200"/>
            <a:ext cx="13335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product story is backed by public Testnet records — with the limits of that evidence stated plainly.</a:t>
            </a:r>
            <a:endParaRPr lang="en-US" sz="1800" dirty="0"/>
          </a:p>
        </p:txBody>
      </p:sp>
      <p:pic>
        <p:nvPicPr>
          <p:cNvPr id="6" name="proof-architecture" descr="preencoded.png">    </p:cNvPr>
          <p:cNvPicPr>
            <a:picLocks noChangeAspect="1"/>
          </p:cNvPicPr>
          <p:nvPr/>
        </p:nvPicPr>
        <p:blipFill>
          <a:blip r:embed="rId1"/>
          <a:srcRect l="0" r="0" t="-38583" b="-38583"/>
          <a:stretch/>
        </p:blipFill>
        <p:spPr>
          <a:xfrm>
            <a:off x="762000" y="2794000"/>
            <a:ext cx="6604000" cy="3810000"/>
          </a:xfrm>
          <a:prstGeom prst="rect">
            <a:avLst/>
          </a:prstGeom>
          <a:ln w="12700">
            <a:solidFill>
              <a:srgbClr val="00F0FF"/>
            </a:solidFill>
          </a:ln>
        </p:spPr>
      </p:pic>
      <p:sp>
        <p:nvSpPr>
          <p:cNvPr id="7" name="proof-visual-caption"/>
          <p:cNvSpPr/>
          <p:nvPr/>
        </p:nvSpPr>
        <p:spPr>
          <a:xfrm>
            <a:off x="762000" y="6794500"/>
            <a:ext cx="660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Freighter → Next.js → Prisma / Horizon → Soroban</a:t>
            </a:r>
            <a:endParaRPr lang="en-US" sz="1400" dirty="0"/>
          </a:p>
        </p:txBody>
      </p:sp>
      <p:sp>
        <p:nvSpPr>
          <p:cNvPr id="8" name="proof-ledger"/>
          <p:cNvSpPr/>
          <p:nvPr/>
        </p:nvSpPr>
        <p:spPr>
          <a:xfrm>
            <a:off x="8255000" y="2794000"/>
            <a:ext cx="7239000" cy="3810000"/>
          </a:xfrm>
          <a:prstGeom prst="rect">
            <a:avLst/>
          </a:prstGeom>
          <a:solidFill>
            <a:srgbClr val="131B33"/>
          </a:solidFill>
          <a:ln w="12700">
            <a:solidFill>
              <a:srgbClr val="2A3655"/>
            </a:solidFill>
            <a:prstDash val="solid"/>
          </a:ln>
        </p:spPr>
      </p:sp>
      <p:sp>
        <p:nvSpPr>
          <p:cNvPr id="9" name="proof-contract-label"/>
          <p:cNvSpPr/>
          <p:nvPr/>
        </p:nvSpPr>
        <p:spPr>
          <a:xfrm>
            <a:off x="8636000" y="3175000"/>
            <a:ext cx="215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SOROBAN CONTRACT</a:t>
            </a:r>
            <a:endParaRPr lang="en-US" sz="1400" dirty="0"/>
          </a:p>
        </p:txBody>
      </p:sp>
      <p:sp>
        <p:nvSpPr>
          <p:cNvPr id="10" name="proof-contract-value"/>
          <p:cNvSpPr/>
          <p:nvPr/>
        </p:nvSpPr>
        <p:spPr>
          <a:xfrm>
            <a:off x="8636000" y="3556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CC42H6…XPIUKSBCM</a:t>
            </a:r>
            <a:endParaRPr lang="en-US" sz="1400" dirty="0"/>
          </a:p>
        </p:txBody>
      </p:sp>
      <p:sp>
        <p:nvSpPr>
          <p:cNvPr id="11" name="proof-divider-1"/>
          <p:cNvSpPr/>
          <p:nvPr/>
        </p:nvSpPr>
        <p:spPr>
          <a:xfrm>
            <a:off x="8636000" y="4127500"/>
            <a:ext cx="6477000" cy="9144"/>
          </a:xfrm>
          <a:prstGeom prst="line">
            <a:avLst/>
          </a:prstGeom>
          <a:ln w="12700">
            <a:solidFill>
              <a:srgbClr val="2A3655"/>
            </a:solidFill>
            <a:prstDash val="solid"/>
          </a:ln>
        </p:spPr>
      </p:sp>
      <p:sp>
        <p:nvSpPr>
          <p:cNvPr id="12" name="proof-hash-label"/>
          <p:cNvSpPr/>
          <p:nvPr/>
        </p:nvSpPr>
        <p:spPr>
          <a:xfrm>
            <a:off x="8636000" y="4406900"/>
            <a:ext cx="215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TESTNET HASHES</a:t>
            </a:r>
            <a:endParaRPr lang="en-US" sz="1400" dirty="0"/>
          </a:p>
        </p:txBody>
      </p:sp>
      <p:sp>
        <p:nvSpPr>
          <p:cNvPr id="13" name="proof-hash-value"/>
          <p:cNvSpPr/>
          <p:nvPr/>
        </p:nvSpPr>
        <p:spPr>
          <a:xfrm>
            <a:off x="8636000" y="47879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 / 42 successful</a:t>
            </a:r>
            <a:endParaRPr lang="en-US" sz="2600" dirty="0"/>
          </a:p>
        </p:txBody>
      </p:sp>
      <p:sp>
        <p:nvSpPr>
          <p:cNvPr id="14" name="proof-hash-note"/>
          <p:cNvSpPr/>
          <p:nvPr/>
        </p:nvSpPr>
        <p:spPr>
          <a:xfrm>
            <a:off x="8636000" y="5232400"/>
            <a:ext cx="6350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candidate resolves through Horizon at audit time.</a:t>
            </a:r>
            <a:endParaRPr lang="en-US" sz="1400" dirty="0"/>
          </a:p>
        </p:txBody>
      </p:sp>
      <p:sp>
        <p:nvSpPr>
          <p:cNvPr id="15" name="proof-divider-2"/>
          <p:cNvSpPr/>
          <p:nvPr/>
        </p:nvSpPr>
        <p:spPr>
          <a:xfrm>
            <a:off x="8636000" y="5715000"/>
            <a:ext cx="6477000" cy="9144"/>
          </a:xfrm>
          <a:prstGeom prst="line">
            <a:avLst/>
          </a:prstGeom>
          <a:ln w="12700">
            <a:solidFill>
              <a:srgbClr val="2A3655"/>
            </a:solidFill>
            <a:prstDash val="solid"/>
          </a:ln>
        </p:spPr>
      </p:sp>
      <p:sp>
        <p:nvSpPr>
          <p:cNvPr id="16" name="proof-boundary-label"/>
          <p:cNvSpPr/>
          <p:nvPr/>
        </p:nvSpPr>
        <p:spPr>
          <a:xfrm>
            <a:off x="8636000" y="5994400"/>
            <a:ext cx="215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FF0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BOUNDARY</a:t>
            </a:r>
            <a:endParaRPr lang="en-US" sz="1400" dirty="0"/>
          </a:p>
        </p:txBody>
      </p:sp>
      <p:sp>
        <p:nvSpPr>
          <p:cNvPr id="17" name="proof-boundary-value"/>
          <p:cNvSpPr/>
          <p:nvPr/>
        </p:nvSpPr>
        <p:spPr>
          <a:xfrm>
            <a:off x="8636000" y="6350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Hash existence ≠ same-row user attribution.</a:t>
            </a:r>
            <a:endParaRPr lang="en-US" sz="1600" dirty="0"/>
          </a:p>
        </p:txBody>
      </p:sp>
      <p:sp>
        <p:nvSpPr>
          <p:cNvPr id="18" name="proof-warning"/>
          <p:cNvSpPr/>
          <p:nvPr/>
        </p:nvSpPr>
        <p:spPr>
          <a:xfrm>
            <a:off x="762000" y="7429500"/>
            <a:ext cx="14732000" cy="571500"/>
          </a:xfrm>
          <a:prstGeom prst="rect">
            <a:avLst/>
          </a:prstGeom>
          <a:solidFill>
            <a:srgbClr val="FFD700">
              <a:alpha val="7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9" name="proof-warning-text"/>
          <p:cNvSpPr/>
          <p:nvPr/>
        </p:nvSpPr>
        <p:spPr>
          <a:xfrm>
            <a:off x="1066800" y="7607300"/>
            <a:ext cx="14097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Re-check all public receipts immediately before submission: Stellar Testnet can reset, and a transaction hash alone does not prove user identity.</a:t>
            </a:r>
            <a:endParaRPr lang="en-US" sz="1400" dirty="0"/>
          </a:p>
        </p:txBody>
      </p:sp>
      <p:sp>
        <p:nvSpPr>
          <p:cNvPr id="20" name="proof-page"/>
          <p:cNvSpPr/>
          <p:nvPr/>
        </p:nvSpPr>
        <p:spPr>
          <a:xfrm>
            <a:off x="762000" y="86106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12</a:t>
            </a:r>
            <a:endParaRPr lang="en-US" sz="1200" dirty="0"/>
          </a:p>
        </p:txBody>
      </p:sp>
      <p:sp>
        <p:nvSpPr>
          <p:cNvPr id="21" name="proof-source"/>
          <p:cNvSpPr/>
          <p:nvPr/>
        </p:nvSpPr>
        <p:spPr>
          <a:xfrm>
            <a:off x="7874000" y="86106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submission/level5-user-activity.md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tion-top-rule"/>
          <p:cNvSpPr/>
          <p:nvPr/>
        </p:nvSpPr>
        <p:spPr>
          <a:xfrm>
            <a:off x="762000" y="228600"/>
            <a:ext cx="14732000" cy="9144"/>
          </a:xfrm>
          <a:prstGeom prst="line">
            <a:avLst/>
          </a:prstGeom>
          <a:ln w="25400">
            <a:solidFill>
              <a:srgbClr val="00F0FF"/>
            </a:solidFill>
            <a:prstDash val="solid"/>
          </a:ln>
        </p:spPr>
      </p:sp>
      <p:sp>
        <p:nvSpPr>
          <p:cNvPr id="3" name="traction-kicker"/>
          <p:cNvSpPr/>
          <p:nvPr/>
        </p:nvSpPr>
        <p:spPr>
          <a:xfrm>
            <a:off x="762000" y="914400"/>
            <a:ext cx="457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 /  EARLY TRACTION</a:t>
            </a:r>
            <a:endParaRPr lang="en-US" sz="1400" dirty="0"/>
          </a:p>
        </p:txBody>
      </p:sp>
      <p:sp>
        <p:nvSpPr>
          <p:cNvPr id="4" name="traction-title"/>
          <p:cNvSpPr/>
          <p:nvPr/>
        </p:nvSpPr>
        <p:spPr>
          <a:xfrm>
            <a:off x="762000" y="1397000"/>
            <a:ext cx="137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evidence is promising — and we count it carefully.</a:t>
            </a:r>
            <a:endParaRPr lang="en-US" sz="3800" dirty="0"/>
          </a:p>
        </p:txBody>
      </p:sp>
      <p:sp>
        <p:nvSpPr>
          <p:cNvPr id="5" name="traction-subtitle"/>
          <p:cNvSpPr/>
          <p:nvPr/>
        </p:nvSpPr>
        <p:spPr>
          <a:xfrm>
            <a:off x="762000" y="2108200"/>
            <a:ext cx="13716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Owner-confirmed form data, admin records, and public Testnet verification show meaningful activity signals.</a:t>
            </a:r>
            <a:endParaRPr lang="en-US" sz="1800" dirty="0"/>
          </a:p>
        </p:txBody>
      </p:sp>
      <p:sp>
        <p:nvSpPr>
          <p:cNvPr id="6" name="traction-chart-title"/>
          <p:cNvSpPr/>
          <p:nvPr/>
        </p:nvSpPr>
        <p:spPr>
          <a:xfrm>
            <a:off x="762000" y="2514600"/>
            <a:ext cx="825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Observed records at audit time</a:t>
            </a:r>
            <a:endParaRPr lang="en-US" sz="1900" dirty="0"/>
          </a:p>
        </p:txBody>
      </p:sp>
      <p:graphicFrame>
        <p:nvGraphicFramePr>
          <p:cNvPr id="7" name="traction-chart" descr=""/>
          <p:cNvGraphicFramePr/>
          <p:nvPr/>
        </p:nvGraphicFramePr>
        <p:xfrm>
          <a:off x="762000" y="2921000"/>
          <a:ext cx="8255000" cy="3810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raction-ledger"/>
          <p:cNvSpPr/>
          <p:nvPr/>
        </p:nvSpPr>
        <p:spPr>
          <a:xfrm>
            <a:off x="9652000" y="2667000"/>
            <a:ext cx="5842000" cy="4064000"/>
          </a:xfrm>
          <a:prstGeom prst="rect">
            <a:avLst/>
          </a:prstGeom>
          <a:solidFill>
            <a:srgbClr val="131B33"/>
          </a:solidFill>
          <a:ln w="12700">
            <a:solidFill>
              <a:srgbClr val="2A3655"/>
            </a:solidFill>
            <a:prstDash val="solid"/>
          </a:ln>
        </p:spPr>
      </p:sp>
      <p:sp>
        <p:nvSpPr>
          <p:cNvPr id="9" name="traction-ledger-title"/>
          <p:cNvSpPr/>
          <p:nvPr/>
        </p:nvSpPr>
        <p:spPr>
          <a:xfrm>
            <a:off x="10033000" y="3048000"/>
            <a:ext cx="482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each number means</a:t>
            </a:r>
            <a:endParaRPr lang="en-US" sz="2200" dirty="0"/>
          </a:p>
        </p:txBody>
      </p:sp>
      <p:sp>
        <p:nvSpPr>
          <p:cNvPr id="10" name="traction-ledger-body"/>
          <p:cNvSpPr/>
          <p:nvPr/>
        </p:nvSpPr>
        <p:spPr>
          <a:xfrm>
            <a:off x="10033000" y="3683000"/>
            <a:ext cx="48895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69875" indent="-269875">
              <a:lnSpc>
                <a:spcPts val="2414"/>
              </a:lnSpc>
              <a:spcBef>
                <a:spcPts val="10"/>
              </a:spcBef>
              <a:buSzPct val="100000"/>
              <a:buChar char="—"/>
            </a:pPr>
            <a:r>
              <a:rPr lang="en-US" alt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</a:t>
            </a:r>
            <a:r>
              <a:rPr lang="en-US" altLang="en-US" sz="17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response rows; </a:t>
            </a:r>
            <a:r>
              <a:rPr lang="en-US" alt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76</a:t>
            </a:r>
            <a:r>
              <a:rPr lang="en-US" altLang="en-US" sz="17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unique wallet values after four repeated rows.</a:t>
            </a:r>
            <a:endParaRPr lang="en-US" sz="1700" dirty="0"/>
          </a:p>
          <a:p>
            <a:pPr algn="l" marL="269875" indent="-269875">
              <a:lnSpc>
                <a:spcPts val="2414"/>
              </a:lnSpc>
              <a:spcBef>
                <a:spcPts val="10"/>
              </a:spcBef>
              <a:buSzPct val="100000"/>
              <a:buChar char="—"/>
            </a:pPr>
            <a:r>
              <a:rPr lang="en-US" alt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</a:t>
            </a:r>
            <a:r>
              <a:rPr lang="en-US" altLang="en-US" sz="17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registered couriers in the latest admin application snapshot.</a:t>
            </a:r>
            <a:endParaRPr lang="en-US" sz="1700" dirty="0"/>
          </a:p>
          <a:p>
            <a:pPr algn="l" marL="269875" indent="-269875">
              <a:lnSpc>
                <a:spcPts val="2414"/>
              </a:lnSpc>
              <a:spcBef>
                <a:spcPts val="10"/>
              </a:spcBef>
              <a:buSzPct val="100000"/>
              <a:buChar char="—"/>
            </a:pPr>
            <a:r>
              <a:rPr lang="en-US" alt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</a:t>
            </a:r>
            <a:r>
              <a:rPr lang="en-US" altLang="en-US" sz="17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unique non-placeholder hashes resolved successfully through Horizon Testnet.</a:t>
            </a:r>
            <a:endParaRPr lang="en-US" sz="1700" dirty="0"/>
          </a:p>
          <a:p>
            <a:pPr algn="l" marL="269875" indent="-269875">
              <a:lnSpc>
                <a:spcPts val="2414"/>
              </a:lnSpc>
              <a:spcBef>
                <a:spcPts val="10"/>
              </a:spcBef>
              <a:buSzPct val="100000"/>
              <a:buChar char="—"/>
            </a:pPr>
            <a:r>
              <a:rPr lang="en-US" altLang="en-US" sz="1700" b="1" dirty="0">
                <a:solidFill>
                  <a:srgbClr val="FF0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 / 42</a:t>
            </a:r>
            <a:r>
              <a:rPr lang="en-US" altLang="en-US" sz="17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same-row wallet/source matches; attribution remains a private reconciliation task.</a:t>
            </a:r>
            <a:endParaRPr lang="en-US" sz="1700" dirty="0"/>
          </a:p>
        </p:txBody>
      </p:sp>
      <p:sp>
        <p:nvSpPr>
          <p:cNvPr id="11" name="traction-caveat"/>
          <p:cNvSpPr/>
          <p:nvPr/>
        </p:nvSpPr>
        <p:spPr>
          <a:xfrm>
            <a:off x="762000" y="7302500"/>
            <a:ext cx="14732000" cy="508000"/>
          </a:xfrm>
          <a:prstGeom prst="rect">
            <a:avLst/>
          </a:prstGeom>
          <a:solidFill>
            <a:srgbClr val="FF007F">
              <a:alpha val="7000"/>
            </a:srgbClr>
          </a:solidFill>
          <a:ln w="12700">
            <a:solidFill>
              <a:srgbClr val="FF007F"/>
            </a:solidFill>
            <a:prstDash val="solid"/>
          </a:ln>
        </p:spPr>
      </p:sp>
      <p:sp>
        <p:nvSpPr>
          <p:cNvPr id="12" name="traction-caveat-text"/>
          <p:cNvSpPr/>
          <p:nvPr/>
        </p:nvSpPr>
        <p:spPr>
          <a:xfrm>
            <a:off x="1066800" y="7454900"/>
            <a:ext cx="14097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FF0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Submission decision: candidate onboarding and verified receipts are strong; “50 users with corresponding real transactions” remains partial until attribution is reconciled.</a:t>
            </a:r>
            <a:endParaRPr lang="en-US" sz="1400" dirty="0"/>
          </a:p>
        </p:txBody>
      </p:sp>
      <p:sp>
        <p:nvSpPr>
          <p:cNvPr id="13" name="traction-page"/>
          <p:cNvSpPr/>
          <p:nvPr/>
        </p:nvSpPr>
        <p:spPr>
          <a:xfrm>
            <a:off x="762000" y="86106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12</a:t>
            </a:r>
            <a:endParaRPr lang="en-US" sz="1200" dirty="0"/>
          </a:p>
        </p:txBody>
      </p:sp>
      <p:sp>
        <p:nvSpPr>
          <p:cNvPr id="14" name="traction-source"/>
          <p:cNvSpPr/>
          <p:nvPr/>
        </p:nvSpPr>
        <p:spPr>
          <a:xfrm>
            <a:off x="7874000" y="86106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submission/level5-user-activity.md, audit 25 Aug 2026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eedback-top-rule"/>
          <p:cNvSpPr/>
          <p:nvPr/>
        </p:nvSpPr>
        <p:spPr>
          <a:xfrm>
            <a:off x="762000" y="228600"/>
            <a:ext cx="14732000" cy="9144"/>
          </a:xfrm>
          <a:prstGeom prst="line">
            <a:avLst/>
          </a:prstGeom>
          <a:ln w="25400">
            <a:solidFill>
              <a:srgbClr val="00F0FF"/>
            </a:solidFill>
            <a:prstDash val="solid"/>
          </a:ln>
        </p:spPr>
      </p:sp>
      <p:sp>
        <p:nvSpPr>
          <p:cNvPr id="3" name="feedback-kicker"/>
          <p:cNvSpPr/>
          <p:nvPr/>
        </p:nvSpPr>
        <p:spPr>
          <a:xfrm>
            <a:off x="762000" y="9144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 /  FEEDBACK → PRODUCT</a:t>
            </a:r>
            <a:endParaRPr lang="en-US" sz="1400" dirty="0"/>
          </a:p>
        </p:txBody>
      </p:sp>
      <p:sp>
        <p:nvSpPr>
          <p:cNvPr id="4" name="feedback-title"/>
          <p:cNvSpPr/>
          <p:nvPr/>
        </p:nvSpPr>
        <p:spPr>
          <a:xfrm>
            <a:off x="762000" y="1397000"/>
            <a:ext cx="1320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response sheet became a prioritized backlog.</a:t>
            </a:r>
            <a:endParaRPr lang="en-US" sz="3800" dirty="0"/>
          </a:p>
        </p:txBody>
      </p:sp>
      <p:sp>
        <p:nvSpPr>
          <p:cNvPr id="5" name="feedback-subtitle"/>
          <p:cNvSpPr/>
          <p:nvPr/>
        </p:nvSpPr>
        <p:spPr>
          <a:xfrm>
            <a:off x="762000" y="2108200"/>
            <a:ext cx="13462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strongest signal was “keep the visual direction” — then remove the friction around the first route.</a:t>
            </a:r>
            <a:endParaRPr lang="en-US" sz="1800" dirty="0"/>
          </a:p>
        </p:txBody>
      </p:sp>
      <p:sp>
        <p:nvSpPr>
          <p:cNvPr id="6" name="feedback-left-panel"/>
          <p:cNvSpPr/>
          <p:nvPr/>
        </p:nvSpPr>
        <p:spPr>
          <a:xfrm>
            <a:off x="762000" y="2794000"/>
            <a:ext cx="6350000" cy="3810000"/>
          </a:xfrm>
          <a:prstGeom prst="rect">
            <a:avLst/>
          </a:prstGeom>
          <a:solidFill>
            <a:srgbClr val="131B33"/>
          </a:solidFill>
          <a:ln w="12700">
            <a:solidFill>
              <a:srgbClr val="2A3655"/>
            </a:solidFill>
            <a:prstDash val="solid"/>
          </a:ln>
        </p:spPr>
      </p:sp>
      <p:sp>
        <p:nvSpPr>
          <p:cNvPr id="7" name="feedback-score"/>
          <p:cNvSpPr/>
          <p:nvPr/>
        </p:nvSpPr>
        <p:spPr>
          <a:xfrm>
            <a:off x="1117600" y="3149600"/>
            <a:ext cx="2921000" cy="812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5200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4.34 / 5</a:t>
            </a:r>
            <a:endParaRPr lang="en-US" sz="5200" dirty="0"/>
          </a:p>
        </p:txBody>
      </p:sp>
      <p:sp>
        <p:nvSpPr>
          <p:cNvPr id="8" name="feedback-score-label"/>
          <p:cNvSpPr/>
          <p:nvPr/>
        </p:nvSpPr>
        <p:spPr>
          <a:xfrm>
            <a:off x="1117600" y="40386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rating · 80 responses</a:t>
            </a:r>
            <a:endParaRPr lang="en-US" sz="1400" dirty="0"/>
          </a:p>
        </p:txBody>
      </p:sp>
      <p:sp>
        <p:nvSpPr>
          <p:cNvPr id="9" name="feedback-left-rule"/>
          <p:cNvSpPr/>
          <p:nvPr/>
        </p:nvSpPr>
        <p:spPr>
          <a:xfrm>
            <a:off x="1117600" y="4508500"/>
            <a:ext cx="5334000" cy="9144"/>
          </a:xfrm>
          <a:prstGeom prst="line">
            <a:avLst/>
          </a:prstGeom>
          <a:ln w="12700">
            <a:solidFill>
              <a:srgbClr val="2A3655"/>
            </a:solidFill>
            <a:prstDash val="solid"/>
          </a:ln>
        </p:spPr>
      </p:sp>
      <p:sp>
        <p:nvSpPr>
          <p:cNvPr id="10" name="feedback-themes"/>
          <p:cNvSpPr/>
          <p:nvPr/>
        </p:nvSpPr>
        <p:spPr>
          <a:xfrm>
            <a:off x="1117600" y="4826000"/>
            <a:ext cx="533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69875" indent="-269875">
              <a:lnSpc>
                <a:spcPts val="2295"/>
              </a:lnSpc>
              <a:spcBef>
                <a:spcPts val="10"/>
              </a:spcBef>
              <a:buSzPct val="100000"/>
              <a:buChar char="—"/>
            </a:pPr>
            <a:r>
              <a:rPr lang="en-US" altLang="en-US" sz="17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 and gameplay are the baseline strengths.</a:t>
            </a:r>
            <a:endParaRPr lang="en-US" sz="1700" dirty="0"/>
          </a:p>
          <a:p>
            <a:pPr algn="l" marL="269875" indent="-269875">
              <a:lnSpc>
                <a:spcPts val="2295"/>
              </a:lnSpc>
              <a:spcBef>
                <a:spcPts val="10"/>
              </a:spcBef>
              <a:buSzPct val="100000"/>
              <a:buChar char="—"/>
            </a:pPr>
            <a:r>
              <a:rPr lang="en-US" altLang="en-US" sz="17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users need clearer wallet and Testnet context.</a:t>
            </a:r>
            <a:endParaRPr lang="en-US" sz="1700" dirty="0"/>
          </a:p>
          <a:p>
            <a:pPr algn="l" marL="269875" indent="-269875">
              <a:lnSpc>
                <a:spcPts val="2295"/>
              </a:lnSpc>
              <a:spcBef>
                <a:spcPts val="10"/>
              </a:spcBef>
              <a:buSzPct val="100000"/>
              <a:buChar char="—"/>
            </a:pPr>
            <a:r>
              <a:rPr lang="en-US" altLang="en-US" sz="17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Performance, sync, and provider clarity need visible states.</a:t>
            </a:r>
            <a:endParaRPr lang="en-US" sz="1700" dirty="0"/>
          </a:p>
        </p:txBody>
      </p:sp>
      <p:sp>
        <p:nvSpPr>
          <p:cNvPr id="11" name="feedback-right-panel"/>
          <p:cNvSpPr/>
          <p:nvPr/>
        </p:nvSpPr>
        <p:spPr>
          <a:xfrm>
            <a:off x="7874000" y="2794000"/>
            <a:ext cx="7620000" cy="3810000"/>
          </a:xfrm>
          <a:prstGeom prst="rect">
            <a:avLst/>
          </a:prstGeom>
          <a:solidFill>
            <a:srgbClr val="FFD700">
              <a:alpha val="5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2" name="feedback-right-kicker"/>
          <p:cNvSpPr/>
          <p:nvPr/>
        </p:nvSpPr>
        <p:spPr>
          <a:xfrm>
            <a:off x="8255000" y="3149600"/>
            <a:ext cx="584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SHIPPED IN CDC89E0</a:t>
            </a:r>
            <a:endParaRPr lang="en-US" sz="1400" dirty="0"/>
          </a:p>
        </p:txBody>
      </p:sp>
      <p:sp>
        <p:nvSpPr>
          <p:cNvPr id="13" name="feedback-right-title"/>
          <p:cNvSpPr/>
          <p:nvPr/>
        </p:nvSpPr>
        <p:spPr>
          <a:xfrm>
            <a:off x="8255000" y="3619500"/>
            <a:ext cx="6350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changes users can feel.</a:t>
            </a:r>
            <a:endParaRPr lang="en-US" sz="2400" dirty="0"/>
          </a:p>
        </p:txBody>
      </p:sp>
      <p:sp>
        <p:nvSpPr>
          <p:cNvPr id="14" name="feedback-right-body"/>
          <p:cNvSpPr/>
          <p:nvPr/>
        </p:nvSpPr>
        <p:spPr>
          <a:xfrm>
            <a:off x="8255000" y="4318000"/>
            <a:ext cx="6350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69875" indent="-269875">
              <a:lnSpc>
                <a:spcPts val="2380"/>
              </a:lnSpc>
              <a:spcBef>
                <a:spcPts val="10"/>
              </a:spcBef>
              <a:buSzPct val="100000"/>
              <a:buChar char="✓"/>
            </a:pPr>
            <a:r>
              <a:rPr lang="en-US" alt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First-flight checklist and landing-page How it works guide.</a:t>
            </a:r>
            <a:endParaRPr lang="en-US" sz="1700" dirty="0"/>
          </a:p>
          <a:p>
            <a:pPr algn="l" marL="269875" indent="-269875">
              <a:lnSpc>
                <a:spcPts val="2380"/>
              </a:lnSpc>
              <a:spcBef>
                <a:spcPts val="10"/>
              </a:spcBef>
              <a:buSzPct val="100000"/>
              <a:buChar char="✓"/>
            </a:pPr>
            <a:r>
              <a:rPr lang="en-US" alt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Pending, confirmed, error, retry, and Explorer receipt states.</a:t>
            </a:r>
            <a:endParaRPr lang="en-US" sz="1700" dirty="0"/>
          </a:p>
          <a:p>
            <a:pPr algn="l" marL="269875" indent="-269875">
              <a:lnSpc>
                <a:spcPts val="2380"/>
              </a:lnSpc>
              <a:spcBef>
                <a:spcPts val="10"/>
              </a:spcBef>
              <a:buSzPct val="100000"/>
              <a:buChar char="✓"/>
            </a:pPr>
            <a:r>
              <a:rPr lang="en-US" alt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Registration failure handling and blank-comment validation.</a:t>
            </a:r>
            <a:endParaRPr lang="en-US" sz="1700" dirty="0"/>
          </a:p>
          <a:p>
            <a:pPr algn="l" marL="269875" indent="-269875">
              <a:lnSpc>
                <a:spcPts val="2380"/>
              </a:lnSpc>
              <a:spcBef>
                <a:spcPts val="10"/>
              </a:spcBef>
              <a:buSzPct val="100000"/>
              <a:buChar char="✓"/>
            </a:pPr>
            <a:r>
              <a:rPr lang="en-US" alt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Privacy-safe analytics events and deterministic CI tests.</a:t>
            </a:r>
            <a:endParaRPr lang="en-US" sz="1700" dirty="0"/>
          </a:p>
        </p:txBody>
      </p:sp>
      <p:sp>
        <p:nvSpPr>
          <p:cNvPr id="15" name="feedback-commit-band"/>
          <p:cNvSpPr/>
          <p:nvPr/>
        </p:nvSpPr>
        <p:spPr>
          <a:xfrm>
            <a:off x="762000" y="7302500"/>
            <a:ext cx="14732000" cy="508000"/>
          </a:xfrm>
          <a:prstGeom prst="rect">
            <a:avLst/>
          </a:prstGeom>
          <a:solidFill>
            <a:srgbClr val="00F0FF">
              <a:alpha val="7000"/>
            </a:srgbClr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16" name="feedback-commit"/>
          <p:cNvSpPr/>
          <p:nvPr/>
        </p:nvSpPr>
        <p:spPr>
          <a:xfrm>
            <a:off x="1066800" y="7454900"/>
            <a:ext cx="14097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Traceability: submission/feedback-to-improvements.md  ·  commit: github.com/SujAnverse1125/NoodleNova/commit/cdc89e0</a:t>
            </a:r>
            <a:endParaRPr lang="en-US" sz="1400" dirty="0"/>
          </a:p>
        </p:txBody>
      </p:sp>
      <p:sp>
        <p:nvSpPr>
          <p:cNvPr id="17" name="feedback-page"/>
          <p:cNvSpPr/>
          <p:nvPr/>
        </p:nvSpPr>
        <p:spPr>
          <a:xfrm>
            <a:off x="762000" y="86106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/ 12</a:t>
            </a:r>
            <a:endParaRPr lang="en-US" sz="1200" dirty="0"/>
          </a:p>
        </p:txBody>
      </p:sp>
      <p:sp>
        <p:nvSpPr>
          <p:cNvPr id="18" name="feedback-source"/>
          <p:cNvSpPr/>
          <p:nvPr/>
        </p:nvSpPr>
        <p:spPr>
          <a:xfrm>
            <a:off x="7874000" y="86106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submission/feedback-to-improvements.md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et-top-rule"/>
          <p:cNvSpPr/>
          <p:nvPr/>
        </p:nvSpPr>
        <p:spPr>
          <a:xfrm>
            <a:off x="762000" y="228600"/>
            <a:ext cx="14732000" cy="9144"/>
          </a:xfrm>
          <a:prstGeom prst="line">
            <a:avLst/>
          </a:prstGeom>
          <a:ln w="25400">
            <a:solidFill>
              <a:srgbClr val="00F0FF"/>
            </a:solidFill>
            <a:prstDash val="solid"/>
          </a:ln>
        </p:spPr>
      </p:sp>
      <p:sp>
        <p:nvSpPr>
          <p:cNvPr id="3" name="market-kicker"/>
          <p:cNvSpPr/>
          <p:nvPr/>
        </p:nvSpPr>
        <p:spPr>
          <a:xfrm>
            <a:off x="762000" y="914400"/>
            <a:ext cx="533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 /  MARKET OPPORTUNITY</a:t>
            </a:r>
            <a:endParaRPr lang="en-US" sz="1400" dirty="0"/>
          </a:p>
        </p:txBody>
      </p:sp>
      <p:sp>
        <p:nvSpPr>
          <p:cNvPr id="4" name="market-title"/>
          <p:cNvSpPr/>
          <p:nvPr/>
        </p:nvSpPr>
        <p:spPr>
          <a:xfrm>
            <a:off x="762000" y="1397000"/>
            <a:ext cx="1397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growing ecosystem needs better first-run experiences.</a:t>
            </a:r>
            <a:endParaRPr lang="en-US" sz="3800" dirty="0"/>
          </a:p>
        </p:txBody>
      </p:sp>
      <p:sp>
        <p:nvSpPr>
          <p:cNvPr id="5" name="market-subtitle"/>
          <p:cNvSpPr/>
          <p:nvPr/>
        </p:nvSpPr>
        <p:spPr>
          <a:xfrm>
            <a:off x="762000" y="2108200"/>
            <a:ext cx="13970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Noodle Nova starts at the intersection of Stellar education, community activation, and playful on-chain participation.</a:t>
            </a:r>
            <a:endParaRPr lang="en-US" sz="1800" dirty="0"/>
          </a:p>
        </p:txBody>
      </p:sp>
      <p:sp>
        <p:nvSpPr>
          <p:cNvPr id="6" name="market-metric-1"/>
          <p:cNvSpPr/>
          <p:nvPr/>
        </p:nvSpPr>
        <p:spPr>
          <a:xfrm>
            <a:off x="762000" y="2730500"/>
            <a:ext cx="3048000" cy="1587500"/>
          </a:xfrm>
          <a:prstGeom prst="rect">
            <a:avLst/>
          </a:prstGeom>
          <a:solidFill>
            <a:srgbClr val="131B33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7" name="market-metric-2"/>
          <p:cNvSpPr/>
          <p:nvPr/>
        </p:nvSpPr>
        <p:spPr>
          <a:xfrm>
            <a:off x="4191000" y="2730500"/>
            <a:ext cx="3048000" cy="1587500"/>
          </a:xfrm>
          <a:prstGeom prst="rect">
            <a:avLst/>
          </a:prstGeom>
          <a:solidFill>
            <a:srgbClr val="131B33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8" name="market-metric-3"/>
          <p:cNvSpPr/>
          <p:nvPr/>
        </p:nvSpPr>
        <p:spPr>
          <a:xfrm>
            <a:off x="7620000" y="2730500"/>
            <a:ext cx="3048000" cy="1587500"/>
          </a:xfrm>
          <a:prstGeom prst="rect">
            <a:avLst/>
          </a:prstGeom>
          <a:solidFill>
            <a:srgbClr val="131B33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9" name="market-metric-1-value"/>
          <p:cNvSpPr/>
          <p:nvPr/>
        </p:nvSpPr>
        <p:spPr>
          <a:xfrm>
            <a:off x="1066800" y="3022600"/>
            <a:ext cx="2413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8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22.5B</a:t>
            </a:r>
            <a:endParaRPr lang="en-US" sz="3800" dirty="0"/>
          </a:p>
        </p:txBody>
      </p:sp>
      <p:sp>
        <p:nvSpPr>
          <p:cNvPr id="10" name="market-metric-1-label"/>
          <p:cNvSpPr/>
          <p:nvPr/>
        </p:nvSpPr>
        <p:spPr>
          <a:xfrm>
            <a:off x="1066800" y="3708400"/>
            <a:ext cx="241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Stellar total operations</a:t>
            </a:r>
            <a:endParaRPr lang="en-US" sz="1400" dirty="0"/>
          </a:p>
        </p:txBody>
      </p:sp>
      <p:sp>
        <p:nvSpPr>
          <p:cNvPr id="11" name="market-metric-2-value"/>
          <p:cNvSpPr/>
          <p:nvPr/>
        </p:nvSpPr>
        <p:spPr>
          <a:xfrm>
            <a:off x="4495800" y="3022600"/>
            <a:ext cx="2413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8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10.6M</a:t>
            </a:r>
            <a:endParaRPr lang="en-US" sz="3800" dirty="0"/>
          </a:p>
        </p:txBody>
      </p:sp>
      <p:sp>
        <p:nvSpPr>
          <p:cNvPr id="12" name="market-metric-2-label"/>
          <p:cNvSpPr/>
          <p:nvPr/>
        </p:nvSpPr>
        <p:spPr>
          <a:xfrm>
            <a:off x="4495800" y="3708400"/>
            <a:ext cx="241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Unique addresses</a:t>
            </a:r>
            <a:endParaRPr lang="en-US" sz="1400" dirty="0"/>
          </a:p>
        </p:txBody>
      </p:sp>
      <p:sp>
        <p:nvSpPr>
          <p:cNvPr id="13" name="market-metric-3-value"/>
          <p:cNvSpPr/>
          <p:nvPr/>
        </p:nvSpPr>
        <p:spPr>
          <a:xfrm>
            <a:off x="7924800" y="3022600"/>
            <a:ext cx="2413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8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86%</a:t>
            </a:r>
            <a:endParaRPr lang="en-US" sz="3800" dirty="0"/>
          </a:p>
        </p:txBody>
      </p:sp>
      <p:sp>
        <p:nvSpPr>
          <p:cNvPr id="14" name="market-metric-3-label"/>
          <p:cNvSpPr/>
          <p:nvPr/>
        </p:nvSpPr>
        <p:spPr>
          <a:xfrm>
            <a:off x="7924800" y="3708400"/>
            <a:ext cx="241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 growth YoY</a:t>
            </a:r>
            <a:endParaRPr lang="en-US" sz="1400" dirty="0"/>
          </a:p>
        </p:txBody>
      </p:sp>
      <p:sp>
        <p:nvSpPr>
          <p:cNvPr id="15" name="market-opportunity-1"/>
          <p:cNvSpPr/>
          <p:nvPr/>
        </p:nvSpPr>
        <p:spPr>
          <a:xfrm>
            <a:off x="762000" y="4953000"/>
            <a:ext cx="3810000" cy="2603500"/>
          </a:xfrm>
          <a:prstGeom prst="rect">
            <a:avLst/>
          </a:prstGeom>
          <a:solidFill>
            <a:srgbClr val="131B33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16" name="market-opportunity-2"/>
          <p:cNvSpPr/>
          <p:nvPr/>
        </p:nvSpPr>
        <p:spPr>
          <a:xfrm>
            <a:off x="5588000" y="4953000"/>
            <a:ext cx="3810000" cy="2603500"/>
          </a:xfrm>
          <a:prstGeom prst="rect">
            <a:avLst/>
          </a:prstGeom>
          <a:solidFill>
            <a:srgbClr val="131B33"/>
          </a:solidFill>
          <a:ln w="12700">
            <a:solidFill>
              <a:srgbClr val="FF007F"/>
            </a:solidFill>
            <a:prstDash val="solid"/>
          </a:ln>
        </p:spPr>
      </p:sp>
      <p:sp>
        <p:nvSpPr>
          <p:cNvPr id="17" name="market-opportunity-3"/>
          <p:cNvSpPr/>
          <p:nvPr/>
        </p:nvSpPr>
        <p:spPr>
          <a:xfrm>
            <a:off x="10414000" y="4953000"/>
            <a:ext cx="3810000" cy="2603500"/>
          </a:xfrm>
          <a:prstGeom prst="rect">
            <a:avLst/>
          </a:prstGeom>
          <a:solidFill>
            <a:srgbClr val="131B33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8" name="market-opportunity-1-title"/>
          <p:cNvSpPr/>
          <p:nvPr/>
        </p:nvSpPr>
        <p:spPr>
          <a:xfrm>
            <a:off x="1066800" y="5308600"/>
            <a:ext cx="304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Builder onboarding</a:t>
            </a:r>
            <a:endParaRPr lang="en-US" sz="2200" dirty="0"/>
          </a:p>
        </p:txBody>
      </p:sp>
      <p:sp>
        <p:nvSpPr>
          <p:cNvPr id="19" name="market-opportunity-1-body"/>
          <p:cNvSpPr/>
          <p:nvPr/>
        </p:nvSpPr>
        <p:spPr>
          <a:xfrm>
            <a:off x="1066800" y="5918200"/>
            <a:ext cx="30480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6"/>
              </a:lnSpc>
              <a:buNone/>
            </a:pPr>
            <a:r>
              <a:rPr lang="en-US" alt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Guided Testnet flows that help new users understand wallets, signing, receipts, and Stellar applications.</a:t>
            </a:r>
            <a:endParaRPr lang="en-US" sz="1700" dirty="0"/>
          </a:p>
        </p:txBody>
      </p:sp>
      <p:sp>
        <p:nvSpPr>
          <p:cNvPr id="20" name="market-opportunity-2-title"/>
          <p:cNvSpPr/>
          <p:nvPr/>
        </p:nvSpPr>
        <p:spPr>
          <a:xfrm>
            <a:off x="5892800" y="5308600"/>
            <a:ext cx="304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FF0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Community activation</a:t>
            </a:r>
            <a:endParaRPr lang="en-US" sz="2200" dirty="0"/>
          </a:p>
        </p:txBody>
      </p:sp>
      <p:sp>
        <p:nvSpPr>
          <p:cNvPr id="21" name="market-opportunity-2-body"/>
          <p:cNvSpPr/>
          <p:nvPr/>
        </p:nvSpPr>
        <p:spPr>
          <a:xfrm>
            <a:off x="5892800" y="5918200"/>
            <a:ext cx="30480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6"/>
              </a:lnSpc>
              <a:buNone/>
            </a:pPr>
            <a:r>
              <a:rPr lang="en-US" alt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Hackathons, campus clubs, and ecosystem campaigns need memorable, measurable participation loops.</a:t>
            </a:r>
            <a:endParaRPr lang="en-US" sz="1700" dirty="0"/>
          </a:p>
        </p:txBody>
      </p:sp>
      <p:sp>
        <p:nvSpPr>
          <p:cNvPr id="22" name="market-opportunity-3-title"/>
          <p:cNvSpPr/>
          <p:nvPr/>
        </p:nvSpPr>
        <p:spPr>
          <a:xfrm>
            <a:off x="10718800" y="5308600"/>
            <a:ext cx="304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Loyalty + play</a:t>
            </a:r>
            <a:endParaRPr lang="en-US" sz="2200" dirty="0"/>
          </a:p>
        </p:txBody>
      </p:sp>
      <p:sp>
        <p:nvSpPr>
          <p:cNvPr id="23" name="market-opportunity-3-body"/>
          <p:cNvSpPr/>
          <p:nvPr/>
        </p:nvSpPr>
        <p:spPr>
          <a:xfrm>
            <a:off x="10718800" y="5918200"/>
            <a:ext cx="30480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6"/>
              </a:lnSpc>
              <a:buNone/>
            </a:pPr>
            <a:r>
              <a:rPr lang="en-US" alt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Rewards, stamps, and quests can make verifiable participation feel human without hiding the rails.</a:t>
            </a:r>
            <a:endParaRPr lang="en-US" sz="1700" dirty="0"/>
          </a:p>
        </p:txBody>
      </p:sp>
      <p:sp>
        <p:nvSpPr>
          <p:cNvPr id="24" name="market-footnote"/>
          <p:cNvSpPr/>
          <p:nvPr/>
        </p:nvSpPr>
        <p:spPr>
          <a:xfrm>
            <a:off x="762000" y="7874000"/>
            <a:ext cx="1473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Official Stellar source: stellar.org/blog/foundation-news/q1-2026-execution-at-network-scale · Adjacent context: IMARC estimates blockchain gaming at USD 24.0B in 2025; directional only.</a:t>
            </a:r>
            <a:endParaRPr lang="en-US" sz="1200" dirty="0"/>
          </a:p>
        </p:txBody>
      </p:sp>
      <p:sp>
        <p:nvSpPr>
          <p:cNvPr id="25" name="market-page"/>
          <p:cNvSpPr/>
          <p:nvPr/>
        </p:nvSpPr>
        <p:spPr>
          <a:xfrm>
            <a:off x="762000" y="86106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/ 12</a:t>
            </a:r>
            <a:endParaRPr lang="en-US" sz="1200" dirty="0"/>
          </a:p>
        </p:txBody>
      </p:sp>
      <p:sp>
        <p:nvSpPr>
          <p:cNvPr id="26" name="market-source"/>
          <p:cNvSpPr/>
          <p:nvPr/>
        </p:nvSpPr>
        <p:spPr>
          <a:xfrm>
            <a:off x="7874000" y="86106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Sources: stellar.org · imarcgroup.com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owth-top-rule"/>
          <p:cNvSpPr/>
          <p:nvPr/>
        </p:nvSpPr>
        <p:spPr>
          <a:xfrm>
            <a:off x="762000" y="228600"/>
            <a:ext cx="14732000" cy="9144"/>
          </a:xfrm>
          <a:prstGeom prst="line">
            <a:avLst/>
          </a:prstGeom>
          <a:ln w="25400">
            <a:solidFill>
              <a:srgbClr val="00F0FF"/>
            </a:solidFill>
            <a:prstDash val="solid"/>
          </a:ln>
        </p:spPr>
      </p:sp>
      <p:sp>
        <p:nvSpPr>
          <p:cNvPr id="3" name="growth-kicker"/>
          <p:cNvSpPr/>
          <p:nvPr/>
        </p:nvSpPr>
        <p:spPr>
          <a:xfrm>
            <a:off x="762000" y="914400"/>
            <a:ext cx="457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 /  GROWTH STRATEGY</a:t>
            </a:r>
            <a:endParaRPr lang="en-US" sz="1400" dirty="0"/>
          </a:p>
        </p:txBody>
      </p:sp>
      <p:sp>
        <p:nvSpPr>
          <p:cNvPr id="4" name="growth-title"/>
          <p:cNvSpPr/>
          <p:nvPr/>
        </p:nvSpPr>
        <p:spPr>
          <a:xfrm>
            <a:off x="762000" y="1397000"/>
            <a:ext cx="137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Acquire with story. Activate with proof. Retain with progress.</a:t>
            </a:r>
            <a:endParaRPr lang="en-US" sz="3800" dirty="0"/>
          </a:p>
        </p:txBody>
      </p:sp>
      <p:sp>
        <p:nvSpPr>
          <p:cNvPr id="5" name="growth-subtitle"/>
          <p:cNvSpPr/>
          <p:nvPr/>
        </p:nvSpPr>
        <p:spPr>
          <a:xfrm>
            <a:off x="762000" y="2108200"/>
            <a:ext cx="13970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first route is the product-led growth loop.</a:t>
            </a:r>
            <a:endParaRPr lang="en-US" sz="1800" dirty="0"/>
          </a:p>
        </p:txBody>
      </p:sp>
      <p:sp>
        <p:nvSpPr>
          <p:cNvPr id="6" name="growth-card-1"/>
          <p:cNvSpPr/>
          <p:nvPr/>
        </p:nvSpPr>
        <p:spPr>
          <a:xfrm>
            <a:off x="762000" y="2857500"/>
            <a:ext cx="2540000" cy="2921000"/>
          </a:xfrm>
          <a:prstGeom prst="rect">
            <a:avLst/>
          </a:prstGeom>
          <a:solidFill>
            <a:srgbClr val="131B33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7" name="growth-card-2"/>
          <p:cNvSpPr/>
          <p:nvPr/>
        </p:nvSpPr>
        <p:spPr>
          <a:xfrm>
            <a:off x="3708400" y="2857500"/>
            <a:ext cx="2540000" cy="2921000"/>
          </a:xfrm>
          <a:prstGeom prst="rect">
            <a:avLst/>
          </a:prstGeom>
          <a:solidFill>
            <a:srgbClr val="131B33"/>
          </a:solidFill>
          <a:ln w="12700">
            <a:solidFill>
              <a:srgbClr val="2A3655"/>
            </a:solidFill>
            <a:prstDash val="solid"/>
          </a:ln>
        </p:spPr>
      </p:sp>
      <p:sp>
        <p:nvSpPr>
          <p:cNvPr id="8" name="growth-card-3"/>
          <p:cNvSpPr/>
          <p:nvPr/>
        </p:nvSpPr>
        <p:spPr>
          <a:xfrm>
            <a:off x="6654800" y="2857500"/>
            <a:ext cx="2540000" cy="2921000"/>
          </a:xfrm>
          <a:prstGeom prst="rect">
            <a:avLst/>
          </a:prstGeom>
          <a:solidFill>
            <a:srgbClr val="131B33"/>
          </a:solidFill>
          <a:ln w="12700">
            <a:solidFill>
              <a:srgbClr val="2A3655"/>
            </a:solidFill>
            <a:prstDash val="solid"/>
          </a:ln>
        </p:spPr>
      </p:sp>
      <p:sp>
        <p:nvSpPr>
          <p:cNvPr id="9" name="growth-card-4"/>
          <p:cNvSpPr/>
          <p:nvPr/>
        </p:nvSpPr>
        <p:spPr>
          <a:xfrm>
            <a:off x="9601200" y="2857500"/>
            <a:ext cx="2540000" cy="2921000"/>
          </a:xfrm>
          <a:prstGeom prst="rect">
            <a:avLst/>
          </a:prstGeom>
          <a:solidFill>
            <a:srgbClr val="131B33"/>
          </a:solidFill>
          <a:ln w="12700">
            <a:solidFill>
              <a:srgbClr val="FF007F"/>
            </a:solidFill>
            <a:prstDash val="solid"/>
          </a:ln>
        </p:spPr>
      </p:sp>
      <p:sp>
        <p:nvSpPr>
          <p:cNvPr id="10" name="growth-card-5"/>
          <p:cNvSpPr/>
          <p:nvPr/>
        </p:nvSpPr>
        <p:spPr>
          <a:xfrm>
            <a:off x="12547600" y="2857500"/>
            <a:ext cx="2540000" cy="2921000"/>
          </a:xfrm>
          <a:prstGeom prst="rect">
            <a:avLst/>
          </a:prstGeom>
          <a:solidFill>
            <a:srgbClr val="131B33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1" name="growth-arrow-1"/>
          <p:cNvSpPr/>
          <p:nvPr/>
        </p:nvSpPr>
        <p:spPr>
          <a:xfrm>
            <a:off x="3302000" y="4318000"/>
            <a:ext cx="406400" cy="9144"/>
          </a:xfrm>
          <a:prstGeom prst="line">
            <a:avLst/>
          </a:prstGeom>
          <a:ln w="25400">
            <a:solidFill>
              <a:srgbClr val="00F0FF"/>
            </a:solidFill>
            <a:prstDash val="solid"/>
            <a:tailEnd type="triangle"/>
          </a:ln>
        </p:spPr>
      </p:sp>
      <p:sp>
        <p:nvSpPr>
          <p:cNvPr id="12" name="growth-arrow-2"/>
          <p:cNvSpPr/>
          <p:nvPr/>
        </p:nvSpPr>
        <p:spPr>
          <a:xfrm>
            <a:off x="6248400" y="4318000"/>
            <a:ext cx="406400" cy="9144"/>
          </a:xfrm>
          <a:prstGeom prst="line">
            <a:avLst/>
          </a:prstGeom>
          <a:ln w="25400">
            <a:solidFill>
              <a:srgbClr val="00F0FF"/>
            </a:solidFill>
            <a:prstDash val="solid"/>
            <a:tailEnd type="triangle"/>
          </a:ln>
        </p:spPr>
      </p:sp>
      <p:sp>
        <p:nvSpPr>
          <p:cNvPr id="13" name="growth-arrow-3"/>
          <p:cNvSpPr/>
          <p:nvPr/>
        </p:nvSpPr>
        <p:spPr>
          <a:xfrm>
            <a:off x="9194800" y="4318000"/>
            <a:ext cx="406400" cy="9144"/>
          </a:xfrm>
          <a:prstGeom prst="line">
            <a:avLst/>
          </a:prstGeom>
          <a:ln w="25400">
            <a:solidFill>
              <a:srgbClr val="00F0FF"/>
            </a:solidFill>
            <a:prstDash val="solid"/>
            <a:tailEnd type="triangle"/>
          </a:ln>
        </p:spPr>
      </p:sp>
      <p:sp>
        <p:nvSpPr>
          <p:cNvPr id="14" name="growth-arrow-4"/>
          <p:cNvSpPr/>
          <p:nvPr/>
        </p:nvSpPr>
        <p:spPr>
          <a:xfrm>
            <a:off x="12141200" y="4318000"/>
            <a:ext cx="406400" cy="9144"/>
          </a:xfrm>
          <a:prstGeom prst="line">
            <a:avLst/>
          </a:prstGeom>
          <a:ln w="25400">
            <a:solidFill>
              <a:srgbClr val="00F0FF"/>
            </a:solidFill>
            <a:prstDash val="solid"/>
            <a:tailEnd type="triangle"/>
          </a:ln>
        </p:spPr>
      </p:sp>
      <p:sp>
        <p:nvSpPr>
          <p:cNvPr id="15" name="growth-1-number"/>
          <p:cNvSpPr/>
          <p:nvPr/>
        </p:nvSpPr>
        <p:spPr>
          <a:xfrm>
            <a:off x="1066800" y="3175000"/>
            <a:ext cx="5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8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800" dirty="0"/>
          </a:p>
        </p:txBody>
      </p:sp>
      <p:sp>
        <p:nvSpPr>
          <p:cNvPr id="16" name="growth-1-title"/>
          <p:cNvSpPr/>
          <p:nvPr/>
        </p:nvSpPr>
        <p:spPr>
          <a:xfrm>
            <a:off x="1066800" y="3937000"/>
            <a:ext cx="190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Acquire</a:t>
            </a:r>
            <a:endParaRPr lang="en-US" sz="2100" dirty="0"/>
          </a:p>
        </p:txBody>
      </p:sp>
      <p:sp>
        <p:nvSpPr>
          <p:cNvPr id="17" name="growth-1-body"/>
          <p:cNvSpPr/>
          <p:nvPr/>
        </p:nvSpPr>
        <p:spPr>
          <a:xfrm>
            <a:off x="1066800" y="4508500"/>
            <a:ext cx="1905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altLang="en-US" sz="16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Stellar hackathons, campuses, builders, and Web3 communities.</a:t>
            </a:r>
            <a:endParaRPr lang="en-US" sz="1600" dirty="0"/>
          </a:p>
        </p:txBody>
      </p:sp>
      <p:sp>
        <p:nvSpPr>
          <p:cNvPr id="18" name="growth-2-number"/>
          <p:cNvSpPr/>
          <p:nvPr/>
        </p:nvSpPr>
        <p:spPr>
          <a:xfrm>
            <a:off x="4013200" y="3175000"/>
            <a:ext cx="5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8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800" dirty="0"/>
          </a:p>
        </p:txBody>
      </p:sp>
      <p:sp>
        <p:nvSpPr>
          <p:cNvPr id="19" name="growth-2-title"/>
          <p:cNvSpPr/>
          <p:nvPr/>
        </p:nvSpPr>
        <p:spPr>
          <a:xfrm>
            <a:off x="4013200" y="3937000"/>
            <a:ext cx="190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Activate</a:t>
            </a:r>
            <a:endParaRPr lang="en-US" sz="2100" dirty="0"/>
          </a:p>
        </p:txBody>
      </p:sp>
      <p:sp>
        <p:nvSpPr>
          <p:cNvPr id="20" name="growth-2-body"/>
          <p:cNvSpPr/>
          <p:nvPr/>
        </p:nvSpPr>
        <p:spPr>
          <a:xfrm>
            <a:off x="4013200" y="4508500"/>
            <a:ext cx="1905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altLang="en-US" sz="16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two-minute first route with Testnet context and clear next steps.</a:t>
            </a:r>
            <a:endParaRPr lang="en-US" sz="1600" dirty="0"/>
          </a:p>
        </p:txBody>
      </p:sp>
      <p:sp>
        <p:nvSpPr>
          <p:cNvPr id="21" name="growth-3-number"/>
          <p:cNvSpPr/>
          <p:nvPr/>
        </p:nvSpPr>
        <p:spPr>
          <a:xfrm>
            <a:off x="6959600" y="3175000"/>
            <a:ext cx="5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8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800" dirty="0"/>
          </a:p>
        </p:txBody>
      </p:sp>
      <p:sp>
        <p:nvSpPr>
          <p:cNvPr id="22" name="growth-3-title"/>
          <p:cNvSpPr/>
          <p:nvPr/>
        </p:nvSpPr>
        <p:spPr>
          <a:xfrm>
            <a:off x="6959600" y="3937000"/>
            <a:ext cx="190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Progress</a:t>
            </a:r>
            <a:endParaRPr lang="en-US" sz="2100" dirty="0"/>
          </a:p>
        </p:txBody>
      </p:sp>
      <p:sp>
        <p:nvSpPr>
          <p:cNvPr id="23" name="growth-3-body"/>
          <p:cNvSpPr/>
          <p:nvPr/>
        </p:nvSpPr>
        <p:spPr>
          <a:xfrm>
            <a:off x="6959600" y="4508500"/>
            <a:ext cx="1905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altLang="en-US" sz="16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Routes, stamps, quests, and rotating missions give users a reason to return.</a:t>
            </a:r>
            <a:endParaRPr lang="en-US" sz="1600" dirty="0"/>
          </a:p>
        </p:txBody>
      </p:sp>
      <p:sp>
        <p:nvSpPr>
          <p:cNvPr id="24" name="growth-4-number"/>
          <p:cNvSpPr/>
          <p:nvPr/>
        </p:nvSpPr>
        <p:spPr>
          <a:xfrm>
            <a:off x="9906000" y="3175000"/>
            <a:ext cx="5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800" dirty="0">
                <a:solidFill>
                  <a:srgbClr val="FF0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2800" dirty="0"/>
          </a:p>
        </p:txBody>
      </p:sp>
      <p:sp>
        <p:nvSpPr>
          <p:cNvPr id="25" name="growth-4-title"/>
          <p:cNvSpPr/>
          <p:nvPr/>
        </p:nvSpPr>
        <p:spPr>
          <a:xfrm>
            <a:off x="9906000" y="3937000"/>
            <a:ext cx="190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</a:t>
            </a:r>
            <a:endParaRPr lang="en-US" sz="2100" dirty="0"/>
          </a:p>
        </p:txBody>
      </p:sp>
      <p:sp>
        <p:nvSpPr>
          <p:cNvPr id="26" name="growth-4-body"/>
          <p:cNvSpPr/>
          <p:nvPr/>
        </p:nvSpPr>
        <p:spPr>
          <a:xfrm>
            <a:off x="9906000" y="4508500"/>
            <a:ext cx="1905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altLang="en-US" sz="16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Views, connects, onboarding, transactions, feedback, and repeat activity.</a:t>
            </a:r>
            <a:endParaRPr lang="en-US" sz="1600" dirty="0"/>
          </a:p>
        </p:txBody>
      </p:sp>
      <p:sp>
        <p:nvSpPr>
          <p:cNvPr id="27" name="growth-5-number"/>
          <p:cNvSpPr/>
          <p:nvPr/>
        </p:nvSpPr>
        <p:spPr>
          <a:xfrm>
            <a:off x="12852400" y="3175000"/>
            <a:ext cx="5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800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2800" dirty="0"/>
          </a:p>
        </p:txBody>
      </p:sp>
      <p:sp>
        <p:nvSpPr>
          <p:cNvPr id="28" name="growth-5-title"/>
          <p:cNvSpPr/>
          <p:nvPr/>
        </p:nvSpPr>
        <p:spPr>
          <a:xfrm>
            <a:off x="12852400" y="3937000"/>
            <a:ext cx="190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</a:t>
            </a:r>
            <a:endParaRPr lang="en-US" sz="2100" dirty="0"/>
          </a:p>
        </p:txBody>
      </p:sp>
      <p:sp>
        <p:nvSpPr>
          <p:cNvPr id="29" name="growth-5-body"/>
          <p:cNvSpPr/>
          <p:nvPr/>
        </p:nvSpPr>
        <p:spPr>
          <a:xfrm>
            <a:off x="12852400" y="4508500"/>
            <a:ext cx="1905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altLang="en-US" sz="16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 Explorer links, clear warnings, non-custodial handling, and privacy-safe evidence.</a:t>
            </a:r>
            <a:endParaRPr lang="en-US" sz="1600" dirty="0"/>
          </a:p>
        </p:txBody>
      </p:sp>
      <p:sp>
        <p:nvSpPr>
          <p:cNvPr id="30" name="growth-bottom-band"/>
          <p:cNvSpPr/>
          <p:nvPr/>
        </p:nvSpPr>
        <p:spPr>
          <a:xfrm>
            <a:off x="762000" y="6604000"/>
            <a:ext cx="14732000" cy="889000"/>
          </a:xfrm>
          <a:prstGeom prst="rect">
            <a:avLst/>
          </a:prstGeom>
          <a:solidFill>
            <a:srgbClr val="00F0FF">
              <a:alpha val="7000"/>
            </a:srgbClr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31" name="growth-bottom"/>
          <p:cNvSpPr/>
          <p:nvPr/>
        </p:nvSpPr>
        <p:spPr>
          <a:xfrm>
            <a:off x="1066800" y="6896100"/>
            <a:ext cx="1409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moat is not the story alone. It is story + on-chain proof + a repeatable feedback loop.</a:t>
            </a:r>
            <a:endParaRPr lang="en-US" sz="2200" dirty="0"/>
          </a:p>
        </p:txBody>
      </p:sp>
      <p:sp>
        <p:nvSpPr>
          <p:cNvPr id="32" name="growth-page"/>
          <p:cNvSpPr/>
          <p:nvPr/>
        </p:nvSpPr>
        <p:spPr>
          <a:xfrm>
            <a:off x="762000" y="86106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12</a:t>
            </a:r>
            <a:endParaRPr lang="en-US" sz="1200" dirty="0"/>
          </a:p>
        </p:txBody>
      </p:sp>
      <p:sp>
        <p:nvSpPr>
          <p:cNvPr id="33" name="growth-source"/>
          <p:cNvSpPr/>
          <p:nvPr/>
        </p:nvSpPr>
        <p:spPr>
          <a:xfrm>
            <a:off x="7874000" y="86106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Noodle Nova Level 5 execution plan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admap-top-rule"/>
          <p:cNvSpPr/>
          <p:nvPr/>
        </p:nvSpPr>
        <p:spPr>
          <a:xfrm>
            <a:off x="762000" y="228600"/>
            <a:ext cx="14732000" cy="9144"/>
          </a:xfrm>
          <a:prstGeom prst="line">
            <a:avLst/>
          </a:prstGeom>
          <a:ln w="25400">
            <a:solidFill>
              <a:srgbClr val="00F0FF"/>
            </a:solidFill>
            <a:prstDash val="solid"/>
          </a:ln>
        </p:spPr>
      </p:sp>
      <p:sp>
        <p:nvSpPr>
          <p:cNvPr id="3" name="roadmap-kicker"/>
          <p:cNvSpPr/>
          <p:nvPr/>
        </p:nvSpPr>
        <p:spPr>
          <a:xfrm>
            <a:off x="762000" y="9144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/  ROADMAP</a:t>
            </a:r>
            <a:endParaRPr lang="en-US" sz="1400" dirty="0"/>
          </a:p>
        </p:txBody>
      </p:sp>
      <p:sp>
        <p:nvSpPr>
          <p:cNvPr id="4" name="roadmap-title"/>
          <p:cNvSpPr/>
          <p:nvPr/>
        </p:nvSpPr>
        <p:spPr>
          <a:xfrm>
            <a:off x="762000" y="1397000"/>
            <a:ext cx="137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Earn the next milestone with evidence, not guesses.</a:t>
            </a:r>
            <a:endParaRPr lang="en-US" sz="3800" dirty="0"/>
          </a:p>
        </p:txBody>
      </p:sp>
      <p:sp>
        <p:nvSpPr>
          <p:cNvPr id="5" name="roadmap-subtitle"/>
          <p:cNvSpPr/>
          <p:nvPr/>
        </p:nvSpPr>
        <p:spPr>
          <a:xfrm>
            <a:off x="762000" y="2108200"/>
            <a:ext cx="13462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staged path from Testnet validation to a controlled production pilot.</a:t>
            </a:r>
            <a:endParaRPr lang="en-US" sz="1800" dirty="0"/>
          </a:p>
        </p:txBody>
      </p:sp>
      <p:sp>
        <p:nvSpPr>
          <p:cNvPr id="6" name="roadmap-line"/>
          <p:cNvSpPr/>
          <p:nvPr/>
        </p:nvSpPr>
        <p:spPr>
          <a:xfrm>
            <a:off x="1524000" y="4445000"/>
            <a:ext cx="13208000" cy="9144"/>
          </a:xfrm>
          <a:prstGeom prst="line">
            <a:avLst/>
          </a:prstGeom>
          <a:ln w="25400">
            <a:solidFill>
              <a:srgbClr val="2A3655"/>
            </a:solidFill>
            <a:prstDash val="solid"/>
          </a:ln>
        </p:spPr>
      </p:sp>
      <p:sp>
        <p:nvSpPr>
          <p:cNvPr id="7" name="roadmap-node-1"/>
          <p:cNvSpPr/>
          <p:nvPr/>
        </p:nvSpPr>
        <p:spPr>
          <a:xfrm>
            <a:off x="1676400" y="4216400"/>
            <a:ext cx="457200" cy="457200"/>
          </a:xfrm>
          <a:prstGeom prst="ellipse">
            <a:avLst/>
          </a:prstGeom>
          <a:solidFill>
            <a:srgbClr val="00F0FF"/>
          </a:solidFill>
          <a:ln/>
        </p:spPr>
      </p:sp>
      <p:sp>
        <p:nvSpPr>
          <p:cNvPr id="8" name="roadmap-node-2"/>
          <p:cNvSpPr/>
          <p:nvPr/>
        </p:nvSpPr>
        <p:spPr>
          <a:xfrm>
            <a:off x="5740400" y="4216400"/>
            <a:ext cx="457200" cy="457200"/>
          </a:xfrm>
          <a:prstGeom prst="ellipse">
            <a:avLst/>
          </a:prstGeom>
          <a:solidFill>
            <a:srgbClr val="FF007F"/>
          </a:solidFill>
          <a:ln/>
        </p:spPr>
      </p:sp>
      <p:sp>
        <p:nvSpPr>
          <p:cNvPr id="9" name="roadmap-node-3"/>
          <p:cNvSpPr/>
          <p:nvPr/>
        </p:nvSpPr>
        <p:spPr>
          <a:xfrm>
            <a:off x="9804400" y="4216400"/>
            <a:ext cx="457200" cy="457200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10" name="roadmap-node-4"/>
          <p:cNvSpPr/>
          <p:nvPr/>
        </p:nvSpPr>
        <p:spPr>
          <a:xfrm>
            <a:off x="13868400" y="4216400"/>
            <a:ext cx="457200" cy="457200"/>
          </a:xfrm>
          <a:prstGeom prst="ellipse">
            <a:avLst/>
          </a:prstGeom>
          <a:solidFill>
            <a:srgbClr val="131B33"/>
          </a:solidFill>
          <a:ln w="25400">
            <a:solidFill>
              <a:srgbClr val="FFD700"/>
            </a:solidFill>
            <a:prstDash val="solid"/>
          </a:ln>
        </p:spPr>
      </p:sp>
      <p:sp>
        <p:nvSpPr>
          <p:cNvPr id="11" name="roadmap-1-time"/>
          <p:cNvSpPr/>
          <p:nvPr/>
        </p:nvSpPr>
        <p:spPr>
          <a:xfrm>
            <a:off x="1016000" y="2857500"/>
            <a:ext cx="228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NOW</a:t>
            </a:r>
            <a:endParaRPr lang="en-US" sz="1400" dirty="0"/>
          </a:p>
        </p:txBody>
      </p:sp>
      <p:sp>
        <p:nvSpPr>
          <p:cNvPr id="12" name="roadmap-1-title"/>
          <p:cNvSpPr/>
          <p:nvPr/>
        </p:nvSpPr>
        <p:spPr>
          <a:xfrm>
            <a:off x="1016000" y="3302000"/>
            <a:ext cx="228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 the loop</a:t>
            </a:r>
            <a:endParaRPr lang="en-US" sz="2000" dirty="0"/>
          </a:p>
        </p:txBody>
      </p:sp>
      <p:sp>
        <p:nvSpPr>
          <p:cNvPr id="13" name="roadmap-1-body"/>
          <p:cNvSpPr/>
          <p:nvPr/>
        </p:nvSpPr>
        <p:spPr>
          <a:xfrm>
            <a:off x="1016000" y="3810000"/>
            <a:ext cx="228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altLang="en-US" sz="16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onboarding and transaction UX. Publish deck, demo, docs, and evidence gates.</a:t>
            </a:r>
            <a:endParaRPr lang="en-US" sz="1600" dirty="0"/>
          </a:p>
        </p:txBody>
      </p:sp>
      <p:sp>
        <p:nvSpPr>
          <p:cNvPr id="14" name="roadmap-2-time"/>
          <p:cNvSpPr/>
          <p:nvPr/>
        </p:nvSpPr>
        <p:spPr>
          <a:xfrm>
            <a:off x="5080000" y="5207000"/>
            <a:ext cx="228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FF0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30 DAYS</a:t>
            </a:r>
            <a:endParaRPr lang="en-US" sz="1400" dirty="0"/>
          </a:p>
        </p:txBody>
      </p:sp>
      <p:sp>
        <p:nvSpPr>
          <p:cNvPr id="15" name="roadmap-2-title"/>
          <p:cNvSpPr/>
          <p:nvPr/>
        </p:nvSpPr>
        <p:spPr>
          <a:xfrm>
            <a:off x="5080000" y="5651500"/>
            <a:ext cx="228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 activity</a:t>
            </a:r>
            <a:endParaRPr lang="en-US" sz="2000" dirty="0"/>
          </a:p>
        </p:txBody>
      </p:sp>
      <p:sp>
        <p:nvSpPr>
          <p:cNvPr id="16" name="roadmap-2-body"/>
          <p:cNvSpPr/>
          <p:nvPr/>
        </p:nvSpPr>
        <p:spPr>
          <a:xfrm>
            <a:off x="5080000" y="6159500"/>
            <a:ext cx="228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altLang="en-US" sz="16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 the reviewed admin migration, protect verification, reconcile wallets and receipts, and publish reviewer-safe activity reporting.</a:t>
            </a:r>
            <a:endParaRPr lang="en-US" sz="1600" dirty="0"/>
          </a:p>
        </p:txBody>
      </p:sp>
      <p:sp>
        <p:nvSpPr>
          <p:cNvPr id="17" name="roadmap-3-time"/>
          <p:cNvSpPr/>
          <p:nvPr/>
        </p:nvSpPr>
        <p:spPr>
          <a:xfrm>
            <a:off x="9144000" y="2857500"/>
            <a:ext cx="228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60–90 DAYS</a:t>
            </a:r>
            <a:endParaRPr lang="en-US" sz="1400" dirty="0"/>
          </a:p>
        </p:txBody>
      </p:sp>
      <p:sp>
        <p:nvSpPr>
          <p:cNvPr id="18" name="roadmap-3-title"/>
          <p:cNvSpPr/>
          <p:nvPr/>
        </p:nvSpPr>
        <p:spPr>
          <a:xfrm>
            <a:off x="9144000" y="3302000"/>
            <a:ext cx="228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Deepen play</a:t>
            </a:r>
            <a:endParaRPr lang="en-US" sz="2000" dirty="0"/>
          </a:p>
        </p:txBody>
      </p:sp>
      <p:sp>
        <p:nvSpPr>
          <p:cNvPr id="19" name="roadmap-3-body"/>
          <p:cNvSpPr/>
          <p:nvPr/>
        </p:nvSpPr>
        <p:spPr>
          <a:xfrm>
            <a:off x="9144000" y="3810000"/>
            <a:ext cx="228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altLang="en-US" sz="16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 route progression, sustainable rewards, wallet compatibility, and mobile status UX.</a:t>
            </a:r>
            <a:endParaRPr lang="en-US" sz="1600" dirty="0"/>
          </a:p>
        </p:txBody>
      </p:sp>
      <p:sp>
        <p:nvSpPr>
          <p:cNvPr id="20" name="roadmap-4-time"/>
          <p:cNvSpPr/>
          <p:nvPr/>
        </p:nvSpPr>
        <p:spPr>
          <a:xfrm>
            <a:off x="13208000" y="5207000"/>
            <a:ext cx="228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LATER</a:t>
            </a:r>
            <a:endParaRPr lang="en-US" sz="1400" dirty="0"/>
          </a:p>
        </p:txBody>
      </p:sp>
      <p:sp>
        <p:nvSpPr>
          <p:cNvPr id="21" name="roadmap-4-title"/>
          <p:cNvSpPr/>
          <p:nvPr/>
        </p:nvSpPr>
        <p:spPr>
          <a:xfrm>
            <a:off x="13208000" y="5651500"/>
            <a:ext cx="228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Controlled pilot</a:t>
            </a:r>
            <a:endParaRPr lang="en-US" sz="2000" dirty="0"/>
          </a:p>
        </p:txBody>
      </p:sp>
      <p:sp>
        <p:nvSpPr>
          <p:cNvPr id="22" name="roadmap-4-body"/>
          <p:cNvSpPr/>
          <p:nvPr/>
        </p:nvSpPr>
        <p:spPr>
          <a:xfrm>
            <a:off x="13208000" y="6159500"/>
            <a:ext cx="228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altLang="en-US" sz="16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Security, economics, consent, and monitoring reviews before any Mainnet decision.</a:t>
            </a:r>
            <a:endParaRPr lang="en-US" sz="1600" dirty="0"/>
          </a:p>
        </p:txBody>
      </p:sp>
      <p:sp>
        <p:nvSpPr>
          <p:cNvPr id="23" name="roadmap-bottom-band"/>
          <p:cNvSpPr/>
          <p:nvPr/>
        </p:nvSpPr>
        <p:spPr>
          <a:xfrm>
            <a:off x="762000" y="7747000"/>
            <a:ext cx="14732000" cy="431800"/>
          </a:xfrm>
          <a:prstGeom prst="rect">
            <a:avLst/>
          </a:prstGeom>
          <a:solidFill>
            <a:srgbClr val="FF007F">
              <a:alpha val="7000"/>
            </a:srgbClr>
          </a:solidFill>
          <a:ln w="12700">
            <a:solidFill>
              <a:srgbClr val="FF007F"/>
            </a:solidFill>
            <a:prstDash val="solid"/>
          </a:ln>
        </p:spPr>
      </p:sp>
      <p:sp>
        <p:nvSpPr>
          <p:cNvPr id="24" name="roadmap-bottom"/>
          <p:cNvSpPr/>
          <p:nvPr/>
        </p:nvSpPr>
        <p:spPr>
          <a:xfrm>
            <a:off x="1066800" y="7848600"/>
            <a:ext cx="14097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FF0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position: Testnet validation and evidence reconciliation. Mainnet is not part of this Level 5 claim.</a:t>
            </a:r>
            <a:endParaRPr lang="en-US" sz="1400" dirty="0"/>
          </a:p>
        </p:txBody>
      </p:sp>
      <p:sp>
        <p:nvSpPr>
          <p:cNvPr id="25" name="roadmap-page"/>
          <p:cNvSpPr/>
          <p:nvPr/>
        </p:nvSpPr>
        <p:spPr>
          <a:xfrm>
            <a:off x="762000" y="86106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12</a:t>
            </a:r>
            <a:endParaRPr lang="en-US" sz="1200" dirty="0"/>
          </a:p>
        </p:txBody>
      </p:sp>
      <p:sp>
        <p:nvSpPr>
          <p:cNvPr id="26" name="roadmap-source"/>
          <p:cNvSpPr/>
          <p:nvPr/>
        </p:nvSpPr>
        <p:spPr>
          <a:xfrm>
            <a:off x="7874000" y="86106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Noodle Nova Level 5 roadmap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se-top-rule"/>
          <p:cNvSpPr/>
          <p:nvPr/>
        </p:nvSpPr>
        <p:spPr>
          <a:xfrm>
            <a:off x="762000" y="228600"/>
            <a:ext cx="14732000" cy="9144"/>
          </a:xfrm>
          <a:prstGeom prst="line">
            <a:avLst/>
          </a:prstGeom>
          <a:ln w="25400">
            <a:solidFill>
              <a:srgbClr val="00F0FF"/>
            </a:solidFill>
            <a:prstDash val="solid"/>
          </a:ln>
        </p:spPr>
      </p:sp>
      <p:sp>
        <p:nvSpPr>
          <p:cNvPr id="3" name="close-frame"/>
          <p:cNvSpPr/>
          <p:nvPr/>
        </p:nvSpPr>
        <p:spPr>
          <a:xfrm>
            <a:off x="762000" y="990600"/>
            <a:ext cx="14732000" cy="6794500"/>
          </a:xfrm>
          <a:prstGeom prst="rect">
            <a:avLst/>
          </a:prstGeom>
          <a:ln w="12700">
            <a:solidFill>
              <a:srgbClr val="2A3655"/>
            </a:solidFill>
            <a:prstDash val="solid"/>
          </a:ln>
        </p:spPr>
      </p:sp>
      <p:sp>
        <p:nvSpPr>
          <p:cNvPr id="4" name="close-kicker"/>
          <p:cNvSpPr/>
          <p:nvPr/>
        </p:nvSpPr>
        <p:spPr>
          <a:xfrm>
            <a:off x="2032000" y="1587500"/>
            <a:ext cx="1219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 /  DEMO + NEXT STEP</a:t>
            </a:r>
            <a:endParaRPr lang="en-US" sz="1400" dirty="0"/>
          </a:p>
        </p:txBody>
      </p:sp>
      <p:sp>
        <p:nvSpPr>
          <p:cNvPr id="5" name="close-title"/>
          <p:cNvSpPr/>
          <p:nvPr/>
        </p:nvSpPr>
        <p:spPr>
          <a:xfrm>
            <a:off x="1905000" y="2159000"/>
            <a:ext cx="1244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670"/>
              </a:lnSpc>
              <a:buNone/>
            </a:pPr>
            <a:r>
              <a:rPr lang="en-US" altLang="en-US" sz="5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Let the receipt tell the story.</a:t>
            </a:r>
            <a:endParaRPr lang="en-US" sz="5400" dirty="0"/>
          </a:p>
        </p:txBody>
      </p:sp>
      <p:sp>
        <p:nvSpPr>
          <p:cNvPr id="6" name="close-subtitle"/>
          <p:cNvSpPr/>
          <p:nvPr/>
        </p:nvSpPr>
        <p:spPr>
          <a:xfrm>
            <a:off x="2413000" y="3810000"/>
            <a:ext cx="11430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35"/>
              </a:lnSpc>
              <a:buNone/>
            </a:pPr>
            <a:r>
              <a:rPr lang="en-US" altLang="en-US" sz="2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Landing → Freighter/Testnet → courier profile → route → receipt → feedback → evidence review</a:t>
            </a:r>
            <a:endParaRPr lang="en-US" sz="2100" dirty="0"/>
          </a:p>
        </p:txBody>
      </p:sp>
      <p:sp>
        <p:nvSpPr>
          <p:cNvPr id="7" name="close-accent"/>
          <p:cNvSpPr/>
          <p:nvPr/>
        </p:nvSpPr>
        <p:spPr>
          <a:xfrm>
            <a:off x="6604000" y="4851400"/>
            <a:ext cx="3048000" cy="9144"/>
          </a:xfrm>
          <a:prstGeom prst="line">
            <a:avLst/>
          </a:prstGeom>
          <a:ln w="25400">
            <a:solidFill>
              <a:srgbClr val="FFD700"/>
            </a:solidFill>
            <a:prstDash val="solid"/>
          </a:ln>
        </p:spPr>
      </p:sp>
      <p:sp>
        <p:nvSpPr>
          <p:cNvPr id="8" name="close-link-1"/>
          <p:cNvSpPr/>
          <p:nvPr/>
        </p:nvSpPr>
        <p:spPr>
          <a:xfrm>
            <a:off x="1016000" y="5461000"/>
            <a:ext cx="4064000" cy="1270000"/>
          </a:xfrm>
          <a:prstGeom prst="rect">
            <a:avLst/>
          </a:prstGeom>
          <a:solidFill>
            <a:srgbClr val="131B33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9" name="close-link-2"/>
          <p:cNvSpPr/>
          <p:nvPr/>
        </p:nvSpPr>
        <p:spPr>
          <a:xfrm>
            <a:off x="6096000" y="5461000"/>
            <a:ext cx="4064000" cy="1270000"/>
          </a:xfrm>
          <a:prstGeom prst="rect">
            <a:avLst/>
          </a:prstGeom>
          <a:solidFill>
            <a:srgbClr val="131B33"/>
          </a:solidFill>
          <a:ln w="12700">
            <a:solidFill>
              <a:srgbClr val="FF007F"/>
            </a:solidFill>
            <a:prstDash val="solid"/>
          </a:ln>
        </p:spPr>
      </p:sp>
      <p:sp>
        <p:nvSpPr>
          <p:cNvPr id="10" name="close-link-3"/>
          <p:cNvSpPr/>
          <p:nvPr/>
        </p:nvSpPr>
        <p:spPr>
          <a:xfrm>
            <a:off x="11176000" y="5461000"/>
            <a:ext cx="4064000" cy="1270000"/>
          </a:xfrm>
          <a:prstGeom prst="rect">
            <a:avLst/>
          </a:prstGeom>
          <a:solidFill>
            <a:srgbClr val="131B33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1" name="close-link-1-label"/>
          <p:cNvSpPr/>
          <p:nvPr/>
        </p:nvSpPr>
        <p:spPr>
          <a:xfrm>
            <a:off x="1320800" y="5740400"/>
            <a:ext cx="342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APP</a:t>
            </a:r>
            <a:endParaRPr lang="en-US" sz="1400" dirty="0"/>
          </a:p>
        </p:txBody>
      </p:sp>
      <p:sp>
        <p:nvSpPr>
          <p:cNvPr id="12" name="close-link-1-value"/>
          <p:cNvSpPr/>
          <p:nvPr/>
        </p:nvSpPr>
        <p:spPr>
          <a:xfrm>
            <a:off x="1320800" y="6159500"/>
            <a:ext cx="3429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noodle-nova-seven.vercel.app</a:t>
            </a:r>
            <a:endParaRPr lang="en-US" sz="1600" dirty="0"/>
          </a:p>
        </p:txBody>
      </p:sp>
      <p:sp>
        <p:nvSpPr>
          <p:cNvPr id="13" name="close-link-2-label"/>
          <p:cNvSpPr/>
          <p:nvPr/>
        </p:nvSpPr>
        <p:spPr>
          <a:xfrm>
            <a:off x="6400800" y="5740400"/>
            <a:ext cx="342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FF0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REPOSITORY</a:t>
            </a:r>
            <a:endParaRPr lang="en-US" sz="1400" dirty="0"/>
          </a:p>
        </p:txBody>
      </p:sp>
      <p:sp>
        <p:nvSpPr>
          <p:cNvPr id="14" name="close-link-2-value"/>
          <p:cNvSpPr/>
          <p:nvPr/>
        </p:nvSpPr>
        <p:spPr>
          <a:xfrm>
            <a:off x="6400800" y="6159500"/>
            <a:ext cx="3429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github.com/SujAnverse1125/NoodleNova</a:t>
            </a:r>
            <a:endParaRPr lang="en-US" sz="1600" dirty="0"/>
          </a:p>
        </p:txBody>
      </p:sp>
      <p:sp>
        <p:nvSpPr>
          <p:cNvPr id="15" name="close-link-3-label"/>
          <p:cNvSpPr/>
          <p:nvPr/>
        </p:nvSpPr>
        <p:spPr>
          <a:xfrm>
            <a:off x="11480800" y="5740400"/>
            <a:ext cx="342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PACKAGE</a:t>
            </a:r>
            <a:endParaRPr lang="en-US" sz="1400" dirty="0"/>
          </a:p>
        </p:txBody>
      </p:sp>
      <p:sp>
        <p:nvSpPr>
          <p:cNvPr id="16" name="close-link-3-value"/>
          <p:cNvSpPr/>
          <p:nvPr/>
        </p:nvSpPr>
        <p:spPr>
          <a:xfrm>
            <a:off x="11480800" y="6159500"/>
            <a:ext cx="3429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submission/level5-checklist.md</a:t>
            </a:r>
            <a:endParaRPr lang="en-US" sz="1600" dirty="0"/>
          </a:p>
        </p:txBody>
      </p:sp>
      <p:sp>
        <p:nvSpPr>
          <p:cNvPr id="17" name="close-gate"/>
          <p:cNvSpPr/>
          <p:nvPr/>
        </p:nvSpPr>
        <p:spPr>
          <a:xfrm>
            <a:off x="762000" y="7429500"/>
            <a:ext cx="14732000" cy="571500"/>
          </a:xfrm>
          <a:prstGeom prst="rect">
            <a:avLst/>
          </a:prstGeom>
          <a:solidFill>
            <a:srgbClr val="00F0FF">
              <a:alpha val="7000"/>
            </a:srgbClr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18" name="close-gate-text"/>
          <p:cNvSpPr/>
          <p:nvPr/>
        </p:nvSpPr>
        <p:spPr>
          <a:xfrm>
            <a:off x="1066800" y="7594600"/>
            <a:ext cx="14097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gate: publish a new accessible walkthrough and finish private user/activity reconciliation before claiming complete Level 5 compliance.</a:t>
            </a:r>
            <a:endParaRPr lang="en-US" sz="1400" dirty="0"/>
          </a:p>
        </p:txBody>
      </p:sp>
      <p:sp>
        <p:nvSpPr>
          <p:cNvPr id="19" name="close-page"/>
          <p:cNvSpPr/>
          <p:nvPr/>
        </p:nvSpPr>
        <p:spPr>
          <a:xfrm>
            <a:off x="762000" y="86106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/ 12</a:t>
            </a:r>
            <a:endParaRPr lang="en-US" sz="1200" dirty="0"/>
          </a:p>
        </p:txBody>
      </p:sp>
      <p:sp>
        <p:nvSpPr>
          <p:cNvPr id="20" name="close-source"/>
          <p:cNvSpPr/>
          <p:nvPr/>
        </p:nvSpPr>
        <p:spPr>
          <a:xfrm>
            <a:off x="7874000" y="86106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Noodle Nova · Level 5 review package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Manus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Noodle Nova — Level 5 Pitch Deck</dc:title>
  <dc:subject>Noodle Nova — Level 5 Pitch Deck</dc:subject>
  <dc:creator>Manus</dc:creator>
  <cp:lastModifiedBy>Manus</cp:lastModifiedBy>
  <cp:revision>1</cp:revision>
  <dcterms:created xsi:type="dcterms:W3CDTF">2026-08-25T15:01:54Z</dcterms:created>
  <dcterms:modified xsi:type="dcterms:W3CDTF">2026-08-25T15:01:54Z</dcterms:modified>
</cp:coreProperties>
</file>